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5"/>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943600"/>
            <a:ext cx="12188952" cy="9144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8012" y="1280160"/>
            <a:ext cx="10972800" cy="1005840"/>
          </a:xfrm>
          <a:prstGeom prst="rect">
            <a:avLst/>
          </a:prstGeom>
          <a:noFill/>
        </p:spPr>
        <p:txBody>
          <a:bodyPr wrap="square">
            <a:spAutoFit/>
          </a:bodyPr>
          <a:lstStyle/>
          <a:p>
            <a:pPr algn="l"/>
            <a:r>
              <a:rPr sz="4800" b="1" i="0" dirty="0">
                <a:solidFill>
                  <a:srgbClr val="FFFFFF"/>
                </a:solidFill>
                <a:latin typeface="Calibri"/>
              </a:rPr>
              <a:t>AWS Systems Manager
Parameter Store</a:t>
            </a:r>
          </a:p>
        </p:txBody>
      </p:sp>
      <p:sp>
        <p:nvSpPr>
          <p:cNvPr id="5" name="TextBox 4"/>
          <p:cNvSpPr txBox="1"/>
          <p:nvPr/>
        </p:nvSpPr>
        <p:spPr>
          <a:xfrm>
            <a:off x="640080" y="2834640"/>
            <a:ext cx="10972800" cy="548640"/>
          </a:xfrm>
          <a:prstGeom prst="rect">
            <a:avLst/>
          </a:prstGeom>
          <a:noFill/>
        </p:spPr>
        <p:txBody>
          <a:bodyPr wrap="square">
            <a:spAutoFit/>
          </a:bodyPr>
          <a:lstStyle/>
          <a:p>
            <a:pPr algn="l"/>
            <a:r>
              <a:rPr sz="1900" b="0" i="0" dirty="0">
                <a:solidFill>
                  <a:srgbClr val="1A75BB"/>
                </a:solidFill>
                <a:latin typeface="Calibri"/>
              </a:rPr>
              <a:t>Secure Hierarchical Storage for Configuration Data &amp; Secrets</a:t>
            </a:r>
          </a:p>
        </p:txBody>
      </p:sp>
      <p:sp>
        <p:nvSpPr>
          <p:cNvPr id="6" name="Rectangle 5"/>
          <p:cNvSpPr/>
          <p:nvPr/>
        </p:nvSpPr>
        <p:spPr>
          <a:xfrm>
            <a:off x="640080" y="3291840"/>
            <a:ext cx="9144000" cy="45720"/>
          </a:xfrm>
          <a:prstGeom prst="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611880"/>
            <a:ext cx="3657600" cy="365760"/>
          </a:xfrm>
          <a:prstGeom prst="rect">
            <a:avLst/>
          </a:prstGeom>
          <a:noFill/>
        </p:spPr>
        <p:txBody>
          <a:bodyPr wrap="square">
            <a:spAutoFit/>
          </a:bodyPr>
          <a:lstStyle/>
          <a:p>
            <a:pPr algn="l"/>
            <a:r>
              <a:rPr sz="1300" b="0" i="0">
                <a:solidFill>
                  <a:srgbClr val="6C757D"/>
                </a:solidFill>
                <a:latin typeface="Calibri"/>
              </a:rPr>
              <a:t>Presented by:</a:t>
            </a:r>
          </a:p>
        </p:txBody>
      </p:sp>
      <p:sp>
        <p:nvSpPr>
          <p:cNvPr id="8" name="TextBox 7"/>
          <p:cNvSpPr txBox="1"/>
          <p:nvPr/>
        </p:nvSpPr>
        <p:spPr>
          <a:xfrm>
            <a:off x="640080" y="4023360"/>
            <a:ext cx="5486400" cy="640080"/>
          </a:xfrm>
          <a:prstGeom prst="rect">
            <a:avLst/>
          </a:prstGeom>
          <a:noFill/>
        </p:spPr>
        <p:txBody>
          <a:bodyPr wrap="square">
            <a:spAutoFit/>
          </a:bodyPr>
          <a:lstStyle/>
          <a:p>
            <a:pPr algn="l"/>
            <a:r>
              <a:rPr sz="3000" b="1" i="0">
                <a:solidFill>
                  <a:srgbClr val="FFFFFF"/>
                </a:solidFill>
                <a:latin typeface="Calibri"/>
              </a:rPr>
              <a:t>K. Arunsai</a:t>
            </a:r>
          </a:p>
        </p:txBody>
      </p:sp>
      <p:sp>
        <p:nvSpPr>
          <p:cNvPr id="9" name="TextBox 8"/>
          <p:cNvSpPr txBox="1"/>
          <p:nvPr/>
        </p:nvSpPr>
        <p:spPr>
          <a:xfrm>
            <a:off x="640080" y="6035040"/>
            <a:ext cx="9144000" cy="276999"/>
          </a:xfrm>
          <a:prstGeom prst="rect">
            <a:avLst/>
          </a:prstGeom>
          <a:noFill/>
        </p:spPr>
        <p:txBody>
          <a:bodyPr wrap="square">
            <a:spAutoFit/>
          </a:bodyPr>
          <a:lstStyle/>
          <a:p>
            <a:pPr algn="l"/>
            <a:r>
              <a:rPr sz="1200" b="0" i="0" dirty="0">
                <a:solidFill>
                  <a:srgbClr val="6C757D"/>
                </a:solidFill>
                <a:latin typeface="Calibri"/>
              </a:rPr>
              <a:t>DevOps |  AWS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08</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Systems Manager — Parameter Store</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Secure Configuration &amp; Secrets Management</a:t>
            </a:r>
          </a:p>
        </p:txBody>
      </p:sp>
      <p:sp>
        <p:nvSpPr>
          <p:cNvPr id="7" name="Rectangle 6"/>
          <p:cNvSpPr/>
          <p:nvPr/>
        </p:nvSpPr>
        <p:spPr>
          <a:xfrm>
            <a:off x="274320" y="1371600"/>
            <a:ext cx="557784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63040"/>
            <a:ext cx="5212080" cy="411480"/>
          </a:xfrm>
          <a:prstGeom prst="rect">
            <a:avLst/>
          </a:prstGeom>
          <a:noFill/>
        </p:spPr>
        <p:txBody>
          <a:bodyPr wrap="square">
            <a:spAutoFit/>
          </a:bodyPr>
          <a:lstStyle/>
          <a:p>
            <a:pPr algn="l"/>
            <a:r>
              <a:rPr sz="1500" b="1" i="0">
                <a:solidFill>
                  <a:srgbClr val="132A45"/>
                </a:solidFill>
                <a:latin typeface="Calibri"/>
              </a:rPr>
              <a:t>What is it?</a:t>
            </a:r>
          </a:p>
        </p:txBody>
      </p:sp>
      <p:sp>
        <p:nvSpPr>
          <p:cNvPr id="10" name="TextBox 9"/>
          <p:cNvSpPr txBox="1"/>
          <p:nvPr/>
        </p:nvSpPr>
        <p:spPr>
          <a:xfrm>
            <a:off x="457200" y="1965960"/>
            <a:ext cx="5212080" cy="2286000"/>
          </a:xfrm>
          <a:prstGeom prst="rect">
            <a:avLst/>
          </a:prstGeom>
          <a:noFill/>
        </p:spPr>
        <p:txBody>
          <a:bodyPr wrap="square">
            <a:spAutoFit/>
          </a:bodyPr>
          <a:lstStyle/>
          <a:p>
            <a:pPr algn="l"/>
            <a:r>
              <a:rPr sz="1200" b="0" i="0">
                <a:solidFill>
                  <a:srgbClr val="1A232F"/>
                </a:solidFill>
                <a:latin typeface="Calibri"/>
              </a:rPr>
              <a:t>AWS Systems Manager Parameter Store provides secure, hierarchical storage for configuration data and secrets management. You can store database connection strings, application configuration values, license codes, and passwords as parameter values.
Implemented with IAM Roles, allowing EC2 instances to retrieve encrypted configuration values dynamically without hardcoding credentials.</a:t>
            </a:r>
          </a:p>
        </p:txBody>
      </p:sp>
      <p:sp>
        <p:nvSpPr>
          <p:cNvPr id="11" name="TextBox 10"/>
          <p:cNvSpPr txBox="1"/>
          <p:nvPr/>
        </p:nvSpPr>
        <p:spPr>
          <a:xfrm>
            <a:off x="457200" y="4206240"/>
            <a:ext cx="5212080" cy="384048"/>
          </a:xfrm>
          <a:prstGeom prst="rect">
            <a:avLst/>
          </a:prstGeom>
          <a:noFill/>
        </p:spPr>
        <p:txBody>
          <a:bodyPr wrap="square">
            <a:spAutoFit/>
          </a:bodyPr>
          <a:lstStyle/>
          <a:p>
            <a:pPr algn="l"/>
            <a:r>
              <a:rPr sz="1300" b="1" i="0">
                <a:solidFill>
                  <a:srgbClr val="1A75BB"/>
                </a:solidFill>
                <a:latin typeface="Calibri"/>
              </a:rPr>
              <a:t>Key Highlights</a:t>
            </a:r>
          </a:p>
        </p:txBody>
      </p:sp>
      <p:sp>
        <p:nvSpPr>
          <p:cNvPr id="12" name="Rectangle 11"/>
          <p:cNvSpPr/>
          <p:nvPr/>
        </p:nvSpPr>
        <p:spPr>
          <a:xfrm>
            <a:off x="475488" y="4736592"/>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4663440"/>
            <a:ext cx="5029200" cy="384048"/>
          </a:xfrm>
          <a:prstGeom prst="rect">
            <a:avLst/>
          </a:prstGeom>
          <a:noFill/>
        </p:spPr>
        <p:txBody>
          <a:bodyPr wrap="square">
            <a:spAutoFit/>
          </a:bodyPr>
          <a:lstStyle/>
          <a:p>
            <a:pPr algn="l"/>
            <a:r>
              <a:rPr sz="1200" b="0" i="0">
                <a:solidFill>
                  <a:srgbClr val="1A232F"/>
                </a:solidFill>
                <a:latin typeface="Calibri"/>
              </a:rPr>
              <a:t>Stores strings, StringLists, or SecureStrings (KMS-encrypted)</a:t>
            </a:r>
          </a:p>
        </p:txBody>
      </p:sp>
      <p:sp>
        <p:nvSpPr>
          <p:cNvPr id="14" name="Rectangle 13"/>
          <p:cNvSpPr/>
          <p:nvPr/>
        </p:nvSpPr>
        <p:spPr>
          <a:xfrm>
            <a:off x="475488" y="5138928"/>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5065776"/>
            <a:ext cx="5029200" cy="384048"/>
          </a:xfrm>
          <a:prstGeom prst="rect">
            <a:avLst/>
          </a:prstGeom>
          <a:noFill/>
        </p:spPr>
        <p:txBody>
          <a:bodyPr wrap="square">
            <a:spAutoFit/>
          </a:bodyPr>
          <a:lstStyle/>
          <a:p>
            <a:pPr algn="l"/>
            <a:r>
              <a:rPr sz="1200" b="0" i="0">
                <a:solidFill>
                  <a:srgbClr val="1A232F"/>
                </a:solidFill>
                <a:latin typeface="Calibri"/>
              </a:rPr>
              <a:t>Hierarchical naming (e.g. /prod/db/password)</a:t>
            </a:r>
          </a:p>
        </p:txBody>
      </p:sp>
      <p:sp>
        <p:nvSpPr>
          <p:cNvPr id="16" name="Rectangle 15"/>
          <p:cNvSpPr/>
          <p:nvPr/>
        </p:nvSpPr>
        <p:spPr>
          <a:xfrm>
            <a:off x="475488" y="5541264"/>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5468112"/>
            <a:ext cx="5029200" cy="384048"/>
          </a:xfrm>
          <a:prstGeom prst="rect">
            <a:avLst/>
          </a:prstGeom>
          <a:noFill/>
        </p:spPr>
        <p:txBody>
          <a:bodyPr wrap="square">
            <a:spAutoFit/>
          </a:bodyPr>
          <a:lstStyle/>
          <a:p>
            <a:pPr algn="l"/>
            <a:r>
              <a:rPr sz="1200" b="0" i="0">
                <a:solidFill>
                  <a:srgbClr val="1A232F"/>
                </a:solidFill>
                <a:latin typeface="Calibri"/>
              </a:rPr>
              <a:t>IAM policy-based fine-grained access control</a:t>
            </a:r>
          </a:p>
        </p:txBody>
      </p:sp>
      <p:sp>
        <p:nvSpPr>
          <p:cNvPr id="18" name="Rectangle 17"/>
          <p:cNvSpPr/>
          <p:nvPr/>
        </p:nvSpPr>
        <p:spPr>
          <a:xfrm>
            <a:off x="475488" y="5943600"/>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5870448"/>
            <a:ext cx="5029200" cy="384048"/>
          </a:xfrm>
          <a:prstGeom prst="rect">
            <a:avLst/>
          </a:prstGeom>
          <a:noFill/>
        </p:spPr>
        <p:txBody>
          <a:bodyPr wrap="square">
            <a:spAutoFit/>
          </a:bodyPr>
          <a:lstStyle/>
          <a:p>
            <a:pPr algn="l"/>
            <a:r>
              <a:rPr sz="1200" b="0" i="0">
                <a:solidFill>
                  <a:srgbClr val="1A232F"/>
                </a:solidFill>
                <a:latin typeface="Calibri"/>
              </a:rPr>
              <a:t>No extra cost for Standard tier parameters</a:t>
            </a:r>
          </a:p>
        </p:txBody>
      </p:sp>
      <p:sp>
        <p:nvSpPr>
          <p:cNvPr id="20" name="Rectangle 19"/>
          <p:cNvSpPr/>
          <p:nvPr/>
        </p:nvSpPr>
        <p:spPr>
          <a:xfrm>
            <a:off x="475488" y="6345936"/>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6272784"/>
            <a:ext cx="5029200" cy="384048"/>
          </a:xfrm>
          <a:prstGeom prst="rect">
            <a:avLst/>
          </a:prstGeom>
          <a:noFill/>
        </p:spPr>
        <p:txBody>
          <a:bodyPr wrap="square">
            <a:spAutoFit/>
          </a:bodyPr>
          <a:lstStyle/>
          <a:p>
            <a:pPr algn="l"/>
            <a:r>
              <a:rPr sz="1200" b="0" i="0">
                <a:solidFill>
                  <a:srgbClr val="1A232F"/>
                </a:solidFill>
                <a:latin typeface="Calibri"/>
              </a:rPr>
              <a:t>Integrated with EC2, Lambda, ECS &amp; CodeBuild</a:t>
            </a:r>
          </a:p>
        </p:txBody>
      </p:sp>
      <p:sp>
        <p:nvSpPr>
          <p:cNvPr id="22" name="Rectangle 21"/>
          <p:cNvSpPr/>
          <p:nvPr/>
        </p:nvSpPr>
        <p:spPr>
          <a:xfrm>
            <a:off x="475488" y="6748272"/>
            <a:ext cx="128016" cy="128016"/>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6675120"/>
            <a:ext cx="5029200" cy="384048"/>
          </a:xfrm>
          <a:prstGeom prst="rect">
            <a:avLst/>
          </a:prstGeom>
          <a:noFill/>
        </p:spPr>
        <p:txBody>
          <a:bodyPr wrap="square">
            <a:spAutoFit/>
          </a:bodyPr>
          <a:lstStyle/>
          <a:p>
            <a:pPr algn="l"/>
            <a:r>
              <a:rPr sz="1200" b="0" i="0">
                <a:solidFill>
                  <a:srgbClr val="1A232F"/>
                </a:solidFill>
                <a:latin typeface="Calibri"/>
              </a:rPr>
              <a:t>Full audit trail via CloudTrail</a:t>
            </a:r>
          </a:p>
        </p:txBody>
      </p:sp>
      <p:sp>
        <p:nvSpPr>
          <p:cNvPr id="24" name="Rectangle 23"/>
          <p:cNvSpPr/>
          <p:nvPr/>
        </p:nvSpPr>
        <p:spPr>
          <a:xfrm>
            <a:off x="6126479" y="1381027"/>
            <a:ext cx="5986963" cy="5144506"/>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463040"/>
            <a:ext cx="5394960" cy="411480"/>
          </a:xfrm>
          <a:prstGeom prst="rect">
            <a:avLst/>
          </a:prstGeom>
          <a:noFill/>
        </p:spPr>
        <p:txBody>
          <a:bodyPr wrap="square">
            <a:spAutoFit/>
          </a:bodyPr>
          <a:lstStyle/>
          <a:p>
            <a:pPr algn="l"/>
            <a:r>
              <a:rPr sz="1300" b="1" i="0">
                <a:solidFill>
                  <a:srgbClr val="132A45"/>
                </a:solidFill>
                <a:latin typeface="Calibri"/>
              </a:rPr>
              <a:t>AWS Console Preview</a:t>
            </a:r>
          </a:p>
        </p:txBody>
      </p:sp>
      <p:sp>
        <p:nvSpPr>
          <p:cNvPr id="28" name="Rectangle 27"/>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pic>
        <p:nvPicPr>
          <p:cNvPr id="30" name="Picture 29">
            <a:extLst>
              <a:ext uri="{FF2B5EF4-FFF2-40B4-BE49-F238E27FC236}">
                <a16:creationId xmlns:a16="http://schemas.microsoft.com/office/drawing/2014/main" id="{755C8BAD-E7E9-E639-750D-F5F599F1E910}"/>
              </a:ext>
            </a:extLst>
          </p:cNvPr>
          <p:cNvPicPr/>
          <p:nvPr/>
        </p:nvPicPr>
        <p:blipFill>
          <a:blip r:embed="rId2"/>
          <a:stretch>
            <a:fillRect/>
          </a:stretch>
        </p:blipFill>
        <p:spPr>
          <a:xfrm>
            <a:off x="6190341" y="1408176"/>
            <a:ext cx="5923101" cy="33284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08</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Systems Manager — Parameter Store</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Secure Configuration &amp; Secrets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1–3: Navigate &amp; Create Parameter</a:t>
            </a:r>
          </a:p>
        </p:txBody>
      </p:sp>
      <p:sp>
        <p:nvSpPr>
          <p:cNvPr id="11" name="Rectangle 10"/>
          <p:cNvSpPr/>
          <p:nvPr/>
        </p:nvSpPr>
        <p:spPr>
          <a:xfrm>
            <a:off x="475488" y="196596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Open AWS Console → Search 'Systems Manager'</a:t>
            </a:r>
          </a:p>
        </p:txBody>
      </p:sp>
      <p:sp>
        <p:nvSpPr>
          <p:cNvPr id="14" name="Rectangle 13"/>
          <p:cNvSpPr/>
          <p:nvPr/>
        </p:nvSpPr>
        <p:spPr>
          <a:xfrm>
            <a:off x="475488" y="246888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Click on AWS Systems Manager</a:t>
            </a:r>
          </a:p>
        </p:txBody>
      </p:sp>
      <p:sp>
        <p:nvSpPr>
          <p:cNvPr id="17" name="Rectangle 16"/>
          <p:cNvSpPr/>
          <p:nvPr/>
        </p:nvSpPr>
        <p:spPr>
          <a:xfrm>
            <a:off x="475488" y="297180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In the left panel → Application Tools → Parameter Store</a:t>
            </a:r>
          </a:p>
        </p:txBody>
      </p:sp>
      <p:sp>
        <p:nvSpPr>
          <p:cNvPr id="20" name="Rectangle 19"/>
          <p:cNvSpPr/>
          <p:nvPr/>
        </p:nvSpPr>
        <p:spPr>
          <a:xfrm>
            <a:off x="475488" y="347472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Click 'Create parameter'</a:t>
            </a:r>
          </a:p>
        </p:txBody>
      </p:sp>
      <p:sp>
        <p:nvSpPr>
          <p:cNvPr id="23" name="Rectangle 22"/>
          <p:cNvSpPr/>
          <p:nvPr/>
        </p:nvSpPr>
        <p:spPr>
          <a:xfrm>
            <a:off x="475488" y="397763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Enter parameter name: /prod/db/password (hierarchical path)</a:t>
            </a:r>
          </a:p>
        </p:txBody>
      </p:sp>
      <p:sp>
        <p:nvSpPr>
          <p:cNvPr id="26" name="Rectangle 25"/>
          <p:cNvSpPr/>
          <p:nvPr/>
        </p:nvSpPr>
        <p:spPr>
          <a:xfrm>
            <a:off x="475488" y="448055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Select type: SecureString (KMS-encrypted)</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sm_1.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Systems Manager Console &amp; Parameter Store Navigation</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08</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Systems Manager — Parameter Store</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Secure Configuration &amp; Secrets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4–5: Configure &amp; Save Parameter</a:t>
            </a:r>
          </a:p>
        </p:txBody>
      </p:sp>
      <p:sp>
        <p:nvSpPr>
          <p:cNvPr id="11" name="Rectangle 10"/>
          <p:cNvSpPr/>
          <p:nvPr/>
        </p:nvSpPr>
        <p:spPr>
          <a:xfrm>
            <a:off x="475488" y="196596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KMS key source: My current account (alias/aws/ssm default)</a:t>
            </a:r>
          </a:p>
        </p:txBody>
      </p:sp>
      <p:sp>
        <p:nvSpPr>
          <p:cNvPr id="14" name="Rectangle 13"/>
          <p:cNvSpPr/>
          <p:nvPr/>
        </p:nvSpPr>
        <p:spPr>
          <a:xfrm>
            <a:off x="475488" y="246888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Enter the secret value (e.g. MySecret123)</a:t>
            </a:r>
          </a:p>
        </p:txBody>
      </p:sp>
      <p:sp>
        <p:nvSpPr>
          <p:cNvPr id="17" name="Rectangle 16"/>
          <p:cNvSpPr/>
          <p:nvPr/>
        </p:nvSpPr>
        <p:spPr>
          <a:xfrm>
            <a:off x="475488" y="297180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Click 'Create parameter'</a:t>
            </a:r>
          </a:p>
        </p:txBody>
      </p:sp>
      <p:sp>
        <p:nvSpPr>
          <p:cNvPr id="20" name="Rectangle 19"/>
          <p:cNvSpPr/>
          <p:nvPr/>
        </p:nvSpPr>
        <p:spPr>
          <a:xfrm>
            <a:off x="475488" y="347472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Parameter /prod/db/password created — type: SecureString</a:t>
            </a:r>
          </a:p>
        </p:txBody>
      </p:sp>
      <p:sp>
        <p:nvSpPr>
          <p:cNvPr id="23" name="Rectangle 22"/>
          <p:cNvSpPr/>
          <p:nvPr/>
        </p:nvSpPr>
        <p:spPr>
          <a:xfrm>
            <a:off x="475488" y="397763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Shown in My parameters list with Tier: Standard</a:t>
            </a:r>
          </a:p>
        </p:txBody>
      </p:sp>
      <p:sp>
        <p:nvSpPr>
          <p:cNvPr id="26" name="Rectangle 25"/>
          <p:cNvSpPr/>
          <p:nvPr/>
        </p:nvSpPr>
        <p:spPr>
          <a:xfrm>
            <a:off x="475488" y="448055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Last modified: confirmed in console</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sm_2.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Parameter Details — SecureString Type, KMS Key &amp; Value Entry</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08</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Systems Manager — Parameter Store</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Secure Configuration &amp; Secrets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6–8: Create IAM Role for EC2</a:t>
            </a:r>
          </a:p>
        </p:txBody>
      </p:sp>
      <p:sp>
        <p:nvSpPr>
          <p:cNvPr id="11" name="Rectangle 10"/>
          <p:cNvSpPr/>
          <p:nvPr/>
        </p:nvSpPr>
        <p:spPr>
          <a:xfrm>
            <a:off x="475488" y="196596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Navigate to IAM → Roles → Create role</a:t>
            </a:r>
          </a:p>
        </p:txBody>
      </p:sp>
      <p:sp>
        <p:nvSpPr>
          <p:cNvPr id="14" name="Rectangle 13"/>
          <p:cNvSpPr/>
          <p:nvPr/>
        </p:nvSpPr>
        <p:spPr>
          <a:xfrm>
            <a:off x="475488" y="246888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Trusted entity type: AWS Service</a:t>
            </a:r>
          </a:p>
        </p:txBody>
      </p:sp>
      <p:sp>
        <p:nvSpPr>
          <p:cNvPr id="17" name="Rectangle 16"/>
          <p:cNvSpPr/>
          <p:nvPr/>
        </p:nvSpPr>
        <p:spPr>
          <a:xfrm>
            <a:off x="475488" y="297180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Use case: EC2 (allows EC2 to call AWS services)</a:t>
            </a:r>
          </a:p>
        </p:txBody>
      </p:sp>
      <p:sp>
        <p:nvSpPr>
          <p:cNvPr id="20" name="Rectangle 19"/>
          <p:cNvSpPr/>
          <p:nvPr/>
        </p:nvSpPr>
        <p:spPr>
          <a:xfrm>
            <a:off x="475488" y="347472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Search and attach policy: AmazonSSMReadOnlyAccess</a:t>
            </a:r>
          </a:p>
        </p:txBody>
      </p:sp>
      <p:sp>
        <p:nvSpPr>
          <p:cNvPr id="23" name="Rectangle 22"/>
          <p:cNvSpPr/>
          <p:nvPr/>
        </p:nvSpPr>
        <p:spPr>
          <a:xfrm>
            <a:off x="475488" y="397763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Enter role name: EC2-SSM-Role</a:t>
            </a:r>
          </a:p>
        </p:txBody>
      </p:sp>
      <p:sp>
        <p:nvSpPr>
          <p:cNvPr id="26" name="Rectangle 25"/>
          <p:cNvSpPr/>
          <p:nvPr/>
        </p:nvSpPr>
        <p:spPr>
          <a:xfrm>
            <a:off x="475488" y="448055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Description: Allows EC2 instances to call AWS SSM on your behalf</a:t>
            </a:r>
          </a:p>
        </p:txBody>
      </p:sp>
      <p:sp>
        <p:nvSpPr>
          <p:cNvPr id="29" name="Rectangle 28"/>
          <p:cNvSpPr/>
          <p:nvPr/>
        </p:nvSpPr>
        <p:spPr>
          <a:xfrm>
            <a:off x="475488" y="498347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 y="4983479"/>
            <a:ext cx="347472" cy="347472"/>
          </a:xfrm>
          <a:prstGeom prst="rect">
            <a:avLst/>
          </a:prstGeom>
          <a:noFill/>
        </p:spPr>
        <p:txBody>
          <a:bodyPr wrap="square">
            <a:spAutoFit/>
          </a:bodyPr>
          <a:lstStyle/>
          <a:p>
            <a:pPr algn="ctr"/>
            <a:r>
              <a:rPr sz="1100" b="1" i="0">
                <a:solidFill>
                  <a:srgbClr val="FFFFFF"/>
                </a:solidFill>
                <a:latin typeface="Calibri"/>
              </a:rPr>
              <a:t>7</a:t>
            </a:r>
          </a:p>
        </p:txBody>
      </p:sp>
      <p:sp>
        <p:nvSpPr>
          <p:cNvPr id="31" name="TextBox 30"/>
          <p:cNvSpPr txBox="1"/>
          <p:nvPr/>
        </p:nvSpPr>
        <p:spPr>
          <a:xfrm>
            <a:off x="932688" y="4983479"/>
            <a:ext cx="4663440" cy="457200"/>
          </a:xfrm>
          <a:prstGeom prst="rect">
            <a:avLst/>
          </a:prstGeom>
          <a:noFill/>
        </p:spPr>
        <p:txBody>
          <a:bodyPr wrap="square">
            <a:spAutoFit/>
          </a:bodyPr>
          <a:lstStyle/>
          <a:p>
            <a:pPr algn="l"/>
            <a:r>
              <a:rPr sz="1100" b="0" i="0">
                <a:solidFill>
                  <a:srgbClr val="1A232F"/>
                </a:solidFill>
                <a:latin typeface="Calibri"/>
              </a:rPr>
              <a:t>Click Create role — 'Role EC2-SSM-Role created' confirmation</a:t>
            </a:r>
          </a:p>
        </p:txBody>
      </p:sp>
      <p:sp>
        <p:nvSpPr>
          <p:cNvPr id="32" name="Rectangle 31"/>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ssm_3.jpg"/>
          <p:cNvPicPr>
            <a:picLocks noChangeAspect="1"/>
          </p:cNvPicPr>
          <p:nvPr/>
        </p:nvPicPr>
        <p:blipFill>
          <a:blip r:embed="rId2"/>
          <a:stretch>
            <a:fillRect/>
          </a:stretch>
        </p:blipFill>
        <p:spPr>
          <a:xfrm>
            <a:off x="6035040" y="1508760"/>
            <a:ext cx="6035040" cy="4480560"/>
          </a:xfrm>
          <a:prstGeom prst="rect">
            <a:avLst/>
          </a:prstGeom>
        </p:spPr>
      </p:pic>
      <p:sp>
        <p:nvSpPr>
          <p:cNvPr id="35" name="TextBox 34"/>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IAM Role Creation — EC2 Trust Policy &amp; SSM Read Permission</a:t>
            </a:r>
          </a:p>
        </p:txBody>
      </p:sp>
      <p:sp>
        <p:nvSpPr>
          <p:cNvPr id="36" name="Rectangle 35"/>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08</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Systems Manager — Parameter Store</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Secure Configuration &amp; Secrets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9–10: Attach Role to EC2 &amp; Retrieve Secret</a:t>
            </a:r>
          </a:p>
        </p:txBody>
      </p:sp>
      <p:sp>
        <p:nvSpPr>
          <p:cNvPr id="11" name="Rectangle 10"/>
          <p:cNvSpPr/>
          <p:nvPr/>
        </p:nvSpPr>
        <p:spPr>
          <a:xfrm>
            <a:off x="475488" y="196596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Launch new EC2 instance</a:t>
            </a:r>
          </a:p>
        </p:txBody>
      </p:sp>
      <p:sp>
        <p:nvSpPr>
          <p:cNvPr id="14" name="Rectangle 13"/>
          <p:cNvSpPr/>
          <p:nvPr/>
        </p:nvSpPr>
        <p:spPr>
          <a:xfrm>
            <a:off x="475488" y="246888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In Advanced Details → IAM instance profile: EC2-SSM-Role</a:t>
            </a:r>
          </a:p>
        </p:txBody>
      </p:sp>
      <p:sp>
        <p:nvSpPr>
          <p:cNvPr id="17" name="Rectangle 16"/>
          <p:cNvSpPr/>
          <p:nvPr/>
        </p:nvSpPr>
        <p:spPr>
          <a:xfrm>
            <a:off x="475488" y="297180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Connect to EC2 using SSH (AWS CLI / terminal)</a:t>
            </a:r>
          </a:p>
        </p:txBody>
      </p:sp>
      <p:sp>
        <p:nvSpPr>
          <p:cNvPr id="20" name="Rectangle 19"/>
          <p:cNvSpPr/>
          <p:nvPr/>
        </p:nvSpPr>
        <p:spPr>
          <a:xfrm>
            <a:off x="475488" y="3474720"/>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Run: aws ssm get-parameter --name '/prod/db/password' --with-decryption</a:t>
            </a:r>
          </a:p>
        </p:txBody>
      </p:sp>
      <p:sp>
        <p:nvSpPr>
          <p:cNvPr id="23" name="Rectangle 22"/>
          <p:cNvSpPr/>
          <p:nvPr/>
        </p:nvSpPr>
        <p:spPr>
          <a:xfrm>
            <a:off x="475488" y="397763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Response shows: Name, Type: SecureString, Value: MySecret123</a:t>
            </a:r>
          </a:p>
        </p:txBody>
      </p:sp>
      <p:sp>
        <p:nvSpPr>
          <p:cNvPr id="26" name="Rectangle 25"/>
          <p:cNvSpPr/>
          <p:nvPr/>
        </p:nvSpPr>
        <p:spPr>
          <a:xfrm>
            <a:off x="475488" y="4480559"/>
            <a:ext cx="347472" cy="347472"/>
          </a:xfrm>
          <a:prstGeom prst="rect">
            <a:avLst/>
          </a:prstGeom>
          <a:solidFill>
            <a:srgbClr val="1A7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Encrypted parameter retrieved securely — no hardcoded credentials!</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sm_4.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EC2 IAM Profile Attachment &amp; SSM CLI Secret Retrieval</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a:t>
            </a:r>
            <a:r>
              <a:rPr sz="1100" b="0" i="0">
                <a:solidFill>
                  <a:srgbClr val="6C757D"/>
                </a:solidFill>
                <a:latin typeface="Calibri"/>
              </a:rPr>
              <a:t>|  DevOps</a:t>
            </a:r>
            <a:endParaRPr sz="1100" b="0" i="0" dirty="0">
              <a:solidFill>
                <a:srgbClr val="6C757D"/>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544</Words>
  <Application>Microsoft Office PowerPoint</Application>
  <PresentationFormat>Custom</PresentationFormat>
  <Paragraphs>93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Arunsai</dc:creator>
  <cp:keywords/>
  <dc:description>generated using python-pptx</dc:description>
  <cp:lastModifiedBy>Arun sai</cp:lastModifiedBy>
  <cp:revision>2</cp:revision>
  <dcterms:created xsi:type="dcterms:W3CDTF">2013-01-27T09:14:16Z</dcterms:created>
  <dcterms:modified xsi:type="dcterms:W3CDTF">2026-05-11T18:28:12Z</dcterms:modified>
  <cp:category/>
</cp:coreProperties>
</file>
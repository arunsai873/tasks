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725"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A45"/>
        </a:solidFill>
        <a:effectLst/>
      </p:bgPr>
    </p:bg>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00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943600"/>
            <a:ext cx="12188952" cy="914400"/>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63040"/>
            <a:ext cx="10972800" cy="1005840"/>
          </a:xfrm>
          <a:prstGeom prst="rect">
            <a:avLst/>
          </a:prstGeom>
          <a:noFill/>
        </p:spPr>
        <p:txBody>
          <a:bodyPr wrap="square">
            <a:spAutoFit/>
          </a:bodyPr>
          <a:lstStyle/>
          <a:p>
            <a:pPr algn="l"/>
            <a:r>
              <a:rPr sz="5200" b="1" i="0">
                <a:solidFill>
                  <a:srgbClr val="FFFFFF"/>
                </a:solidFill>
                <a:latin typeface="Calibri"/>
              </a:rPr>
              <a:t>AWS KMS</a:t>
            </a:r>
          </a:p>
        </p:txBody>
      </p:sp>
      <p:sp>
        <p:nvSpPr>
          <p:cNvPr id="5" name="TextBox 4"/>
          <p:cNvSpPr txBox="1"/>
          <p:nvPr/>
        </p:nvSpPr>
        <p:spPr>
          <a:xfrm>
            <a:off x="640080" y="2606040"/>
            <a:ext cx="10972800" cy="548640"/>
          </a:xfrm>
          <a:prstGeom prst="rect">
            <a:avLst/>
          </a:prstGeom>
          <a:noFill/>
        </p:spPr>
        <p:txBody>
          <a:bodyPr wrap="square">
            <a:spAutoFit/>
          </a:bodyPr>
          <a:lstStyle/>
          <a:p>
            <a:pPr algn="l"/>
            <a:r>
              <a:rPr sz="2000" b="0" i="0">
                <a:solidFill>
                  <a:srgbClr val="009668"/>
                </a:solidFill>
                <a:latin typeface="Calibri"/>
              </a:rPr>
              <a:t>Key Management Service — Cryptographic Key Control</a:t>
            </a:r>
          </a:p>
        </p:txBody>
      </p:sp>
      <p:sp>
        <p:nvSpPr>
          <p:cNvPr id="6" name="Rectangle 5"/>
          <p:cNvSpPr/>
          <p:nvPr/>
        </p:nvSpPr>
        <p:spPr>
          <a:xfrm>
            <a:off x="640080" y="3291840"/>
            <a:ext cx="9144000" cy="45720"/>
          </a:xfrm>
          <a:prstGeom prst="rect">
            <a:avLst/>
          </a:prstGeom>
          <a:solidFill>
            <a:srgbClr val="0073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3611880"/>
            <a:ext cx="3657600" cy="365760"/>
          </a:xfrm>
          <a:prstGeom prst="rect">
            <a:avLst/>
          </a:prstGeom>
          <a:noFill/>
        </p:spPr>
        <p:txBody>
          <a:bodyPr wrap="square">
            <a:spAutoFit/>
          </a:bodyPr>
          <a:lstStyle/>
          <a:p>
            <a:pPr algn="l"/>
            <a:r>
              <a:rPr sz="1300" b="0" i="0">
                <a:solidFill>
                  <a:srgbClr val="6C757D"/>
                </a:solidFill>
                <a:latin typeface="Calibri"/>
              </a:rPr>
              <a:t>Presented by:</a:t>
            </a:r>
          </a:p>
        </p:txBody>
      </p:sp>
      <p:sp>
        <p:nvSpPr>
          <p:cNvPr id="8" name="TextBox 7"/>
          <p:cNvSpPr txBox="1"/>
          <p:nvPr/>
        </p:nvSpPr>
        <p:spPr>
          <a:xfrm>
            <a:off x="640080" y="4023360"/>
            <a:ext cx="5486400" cy="640080"/>
          </a:xfrm>
          <a:prstGeom prst="rect">
            <a:avLst/>
          </a:prstGeom>
          <a:noFill/>
        </p:spPr>
        <p:txBody>
          <a:bodyPr wrap="square">
            <a:spAutoFit/>
          </a:bodyPr>
          <a:lstStyle/>
          <a:p>
            <a:pPr algn="l"/>
            <a:r>
              <a:rPr sz="3000" b="1" i="0">
                <a:solidFill>
                  <a:srgbClr val="FFFFFF"/>
                </a:solidFill>
                <a:latin typeface="Calibri"/>
              </a:rPr>
              <a:t>K. Arunsai</a:t>
            </a:r>
          </a:p>
        </p:txBody>
      </p:sp>
      <p:sp>
        <p:nvSpPr>
          <p:cNvPr id="9" name="TextBox 8"/>
          <p:cNvSpPr txBox="1"/>
          <p:nvPr/>
        </p:nvSpPr>
        <p:spPr>
          <a:xfrm>
            <a:off x="640080" y="6035040"/>
            <a:ext cx="9144000" cy="276999"/>
          </a:xfrm>
          <a:prstGeom prst="rect">
            <a:avLst/>
          </a:prstGeom>
          <a:noFill/>
        </p:spPr>
        <p:txBody>
          <a:bodyPr wrap="square">
            <a:spAutoFit/>
          </a:bodyPr>
          <a:lstStyle/>
          <a:p>
            <a:pPr algn="l"/>
            <a:r>
              <a:rPr sz="1200" b="0" i="0" dirty="0">
                <a:solidFill>
                  <a:srgbClr val="6C757D"/>
                </a:solidFill>
                <a:latin typeface="Calibri"/>
              </a:rPr>
              <a:t>DevOps   |</a:t>
            </a:r>
            <a:r>
              <a:rPr lang="en-IN" sz="1200" b="0" i="0" dirty="0">
                <a:solidFill>
                  <a:srgbClr val="6C757D"/>
                </a:solidFill>
                <a:latin typeface="Calibri"/>
              </a:rPr>
              <a:t>  AWS Infrastructure</a:t>
            </a:r>
            <a:endParaRPr sz="1200" b="0" i="0" dirty="0">
              <a:solidFill>
                <a:srgbClr val="6C757D"/>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28600" y="201168"/>
            <a:ext cx="713232" cy="713232"/>
          </a:xfrm>
          <a:prstGeom prst="rect">
            <a:avLst/>
          </a:prstGeom>
          <a:solidFill>
            <a:srgbClr val="00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201168"/>
            <a:ext cx="713232" cy="713232"/>
          </a:xfrm>
          <a:prstGeom prst="rect">
            <a:avLst/>
          </a:prstGeom>
          <a:noFill/>
        </p:spPr>
        <p:txBody>
          <a:bodyPr wrap="square">
            <a:spAutoFit/>
          </a:bodyPr>
          <a:lstStyle/>
          <a:p>
            <a:pPr algn="ctr"/>
            <a:r>
              <a:rPr sz="1800" b="1" i="0">
                <a:solidFill>
                  <a:srgbClr val="FFFFFF"/>
                </a:solidFill>
                <a:latin typeface="Calibri"/>
              </a:rPr>
              <a:t>03</a:t>
            </a:r>
          </a:p>
        </p:txBody>
      </p:sp>
      <p:sp>
        <p:nvSpPr>
          <p:cNvPr id="5" name="TextBox 4"/>
          <p:cNvSpPr txBox="1"/>
          <p:nvPr/>
        </p:nvSpPr>
        <p:spPr>
          <a:xfrm>
            <a:off x="1097280" y="73152"/>
            <a:ext cx="9144000" cy="621792"/>
          </a:xfrm>
          <a:prstGeom prst="rect">
            <a:avLst/>
          </a:prstGeom>
          <a:noFill/>
        </p:spPr>
        <p:txBody>
          <a:bodyPr wrap="square">
            <a:spAutoFit/>
          </a:bodyPr>
          <a:lstStyle/>
          <a:p>
            <a:pPr algn="l"/>
            <a:r>
              <a:rPr sz="2800" b="1" i="0">
                <a:solidFill>
                  <a:srgbClr val="FFFFFF"/>
                </a:solidFill>
                <a:latin typeface="Calibri"/>
              </a:rPr>
              <a:t>AWS KMS</a:t>
            </a:r>
          </a:p>
        </p:txBody>
      </p:sp>
      <p:sp>
        <p:nvSpPr>
          <p:cNvPr id="6" name="TextBox 5"/>
          <p:cNvSpPr txBox="1"/>
          <p:nvPr/>
        </p:nvSpPr>
        <p:spPr>
          <a:xfrm>
            <a:off x="1097280" y="713232"/>
            <a:ext cx="9144000" cy="411480"/>
          </a:xfrm>
          <a:prstGeom prst="rect">
            <a:avLst/>
          </a:prstGeom>
          <a:noFill/>
        </p:spPr>
        <p:txBody>
          <a:bodyPr wrap="square">
            <a:spAutoFit/>
          </a:bodyPr>
          <a:lstStyle/>
          <a:p>
            <a:pPr algn="l"/>
            <a:r>
              <a:rPr sz="1300" b="0" i="0">
                <a:solidFill>
                  <a:srgbClr val="BBCCDD"/>
                </a:solidFill>
                <a:latin typeface="Calibri"/>
              </a:rPr>
              <a:t>Key Management Service</a:t>
            </a:r>
          </a:p>
        </p:txBody>
      </p:sp>
      <p:sp>
        <p:nvSpPr>
          <p:cNvPr id="7" name="Rectangle 6"/>
          <p:cNvSpPr/>
          <p:nvPr/>
        </p:nvSpPr>
        <p:spPr>
          <a:xfrm>
            <a:off x="274320" y="1371600"/>
            <a:ext cx="5577840" cy="51663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371600"/>
            <a:ext cx="64008" cy="5166360"/>
          </a:xfrm>
          <a:prstGeom prst="rect">
            <a:avLst/>
          </a:prstGeom>
          <a:solidFill>
            <a:srgbClr val="00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463040"/>
            <a:ext cx="5212080" cy="411480"/>
          </a:xfrm>
          <a:prstGeom prst="rect">
            <a:avLst/>
          </a:prstGeom>
          <a:noFill/>
        </p:spPr>
        <p:txBody>
          <a:bodyPr wrap="square">
            <a:spAutoFit/>
          </a:bodyPr>
          <a:lstStyle/>
          <a:p>
            <a:pPr algn="l"/>
            <a:r>
              <a:rPr sz="1500" b="1" i="0">
                <a:solidFill>
                  <a:srgbClr val="132A45"/>
                </a:solidFill>
                <a:latin typeface="Calibri"/>
              </a:rPr>
              <a:t>What is it?</a:t>
            </a:r>
          </a:p>
        </p:txBody>
      </p:sp>
      <p:sp>
        <p:nvSpPr>
          <p:cNvPr id="10" name="TextBox 9"/>
          <p:cNvSpPr txBox="1"/>
          <p:nvPr/>
        </p:nvSpPr>
        <p:spPr>
          <a:xfrm>
            <a:off x="457200" y="1965960"/>
            <a:ext cx="5212080" cy="2286000"/>
          </a:xfrm>
          <a:prstGeom prst="rect">
            <a:avLst/>
          </a:prstGeom>
          <a:noFill/>
        </p:spPr>
        <p:txBody>
          <a:bodyPr wrap="square">
            <a:spAutoFit/>
          </a:bodyPr>
          <a:lstStyle/>
          <a:p>
            <a:pPr algn="l"/>
            <a:r>
              <a:rPr sz="1300" b="0" i="0">
                <a:solidFill>
                  <a:srgbClr val="1A232F"/>
                </a:solidFill>
                <a:latin typeface="Calibri"/>
              </a:rPr>
              <a:t>AWS Key Management Service (KMS) is a managed service that makes it easy to create and control cryptographic keys used to protect your data. KMS integrates with S3, RDS, EBS, Lambda, Secrets Manager and more to encrypt data at rest automatically.</a:t>
            </a:r>
          </a:p>
        </p:txBody>
      </p:sp>
      <p:sp>
        <p:nvSpPr>
          <p:cNvPr id="11" name="TextBox 10"/>
          <p:cNvSpPr txBox="1"/>
          <p:nvPr/>
        </p:nvSpPr>
        <p:spPr>
          <a:xfrm>
            <a:off x="457200" y="4206240"/>
            <a:ext cx="5212080" cy="384048"/>
          </a:xfrm>
          <a:prstGeom prst="rect">
            <a:avLst/>
          </a:prstGeom>
          <a:noFill/>
        </p:spPr>
        <p:txBody>
          <a:bodyPr wrap="square">
            <a:spAutoFit/>
          </a:bodyPr>
          <a:lstStyle/>
          <a:p>
            <a:pPr algn="l"/>
            <a:r>
              <a:rPr sz="1300" b="1" i="0">
                <a:solidFill>
                  <a:srgbClr val="009668"/>
                </a:solidFill>
                <a:latin typeface="Calibri"/>
              </a:rPr>
              <a:t>Key Highlights</a:t>
            </a:r>
          </a:p>
        </p:txBody>
      </p:sp>
      <p:sp>
        <p:nvSpPr>
          <p:cNvPr id="12" name="Rectangle 11"/>
          <p:cNvSpPr/>
          <p:nvPr/>
        </p:nvSpPr>
        <p:spPr>
          <a:xfrm>
            <a:off x="475488" y="4736592"/>
            <a:ext cx="128016" cy="128016"/>
          </a:xfrm>
          <a:prstGeom prst="rect">
            <a:avLst/>
          </a:prstGeom>
          <a:solidFill>
            <a:srgbClr val="00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13232" y="4663440"/>
            <a:ext cx="5029200" cy="384048"/>
          </a:xfrm>
          <a:prstGeom prst="rect">
            <a:avLst/>
          </a:prstGeom>
          <a:noFill/>
        </p:spPr>
        <p:txBody>
          <a:bodyPr wrap="square">
            <a:spAutoFit/>
          </a:bodyPr>
          <a:lstStyle/>
          <a:p>
            <a:pPr algn="l"/>
            <a:r>
              <a:rPr sz="1200" b="0" i="0">
                <a:solidFill>
                  <a:srgbClr val="1A232F"/>
                </a:solidFill>
                <a:latin typeface="Calibri"/>
              </a:rPr>
              <a:t>FIPS 140-2 validated hardware security modules</a:t>
            </a:r>
          </a:p>
        </p:txBody>
      </p:sp>
      <p:sp>
        <p:nvSpPr>
          <p:cNvPr id="14" name="Rectangle 13"/>
          <p:cNvSpPr/>
          <p:nvPr/>
        </p:nvSpPr>
        <p:spPr>
          <a:xfrm>
            <a:off x="475488" y="5138928"/>
            <a:ext cx="128016" cy="128016"/>
          </a:xfrm>
          <a:prstGeom prst="rect">
            <a:avLst/>
          </a:prstGeom>
          <a:solidFill>
            <a:srgbClr val="00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3232" y="5065776"/>
            <a:ext cx="5029200" cy="384048"/>
          </a:xfrm>
          <a:prstGeom prst="rect">
            <a:avLst/>
          </a:prstGeom>
          <a:noFill/>
        </p:spPr>
        <p:txBody>
          <a:bodyPr wrap="square">
            <a:spAutoFit/>
          </a:bodyPr>
          <a:lstStyle/>
          <a:p>
            <a:pPr algn="l"/>
            <a:r>
              <a:rPr sz="1200" b="0" i="0">
                <a:solidFill>
                  <a:srgbClr val="1A232F"/>
                </a:solidFill>
                <a:latin typeface="Calibri"/>
              </a:rPr>
              <a:t>Symmetric &amp; asymmetric key types</a:t>
            </a:r>
          </a:p>
        </p:txBody>
      </p:sp>
      <p:sp>
        <p:nvSpPr>
          <p:cNvPr id="16" name="Rectangle 15"/>
          <p:cNvSpPr/>
          <p:nvPr/>
        </p:nvSpPr>
        <p:spPr>
          <a:xfrm>
            <a:off x="475488" y="5541264"/>
            <a:ext cx="128016" cy="128016"/>
          </a:xfrm>
          <a:prstGeom prst="rect">
            <a:avLst/>
          </a:prstGeom>
          <a:solidFill>
            <a:srgbClr val="00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3232" y="5468112"/>
            <a:ext cx="5029200" cy="384048"/>
          </a:xfrm>
          <a:prstGeom prst="rect">
            <a:avLst/>
          </a:prstGeom>
          <a:noFill/>
        </p:spPr>
        <p:txBody>
          <a:bodyPr wrap="square">
            <a:spAutoFit/>
          </a:bodyPr>
          <a:lstStyle/>
          <a:p>
            <a:pPr algn="l"/>
            <a:r>
              <a:rPr sz="1200" b="0" i="0">
                <a:solidFill>
                  <a:srgbClr val="1A232F"/>
                </a:solidFill>
                <a:latin typeface="Calibri"/>
              </a:rPr>
              <a:t>Centralized key policy &amp; access control (IAM)</a:t>
            </a:r>
          </a:p>
        </p:txBody>
      </p:sp>
      <p:sp>
        <p:nvSpPr>
          <p:cNvPr id="18" name="Rectangle 17"/>
          <p:cNvSpPr/>
          <p:nvPr/>
        </p:nvSpPr>
        <p:spPr>
          <a:xfrm>
            <a:off x="475488" y="5943600"/>
            <a:ext cx="128016" cy="128016"/>
          </a:xfrm>
          <a:prstGeom prst="rect">
            <a:avLst/>
          </a:prstGeom>
          <a:solidFill>
            <a:srgbClr val="00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3232" y="5870448"/>
            <a:ext cx="5029200" cy="384048"/>
          </a:xfrm>
          <a:prstGeom prst="rect">
            <a:avLst/>
          </a:prstGeom>
          <a:noFill/>
        </p:spPr>
        <p:txBody>
          <a:bodyPr wrap="square">
            <a:spAutoFit/>
          </a:bodyPr>
          <a:lstStyle/>
          <a:p>
            <a:pPr algn="l"/>
            <a:r>
              <a:rPr sz="1200" b="0" i="0">
                <a:solidFill>
                  <a:srgbClr val="1A232F"/>
                </a:solidFill>
                <a:latin typeface="Calibri"/>
              </a:rPr>
              <a:t>Automatic annual key rotation</a:t>
            </a:r>
          </a:p>
        </p:txBody>
      </p:sp>
      <p:sp>
        <p:nvSpPr>
          <p:cNvPr id="20" name="Rectangle 19"/>
          <p:cNvSpPr/>
          <p:nvPr/>
        </p:nvSpPr>
        <p:spPr>
          <a:xfrm>
            <a:off x="475488" y="6345936"/>
            <a:ext cx="128016" cy="128016"/>
          </a:xfrm>
          <a:prstGeom prst="rect">
            <a:avLst/>
          </a:prstGeom>
          <a:solidFill>
            <a:srgbClr val="00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13232" y="6272784"/>
            <a:ext cx="5029200" cy="384048"/>
          </a:xfrm>
          <a:prstGeom prst="rect">
            <a:avLst/>
          </a:prstGeom>
          <a:noFill/>
        </p:spPr>
        <p:txBody>
          <a:bodyPr wrap="square">
            <a:spAutoFit/>
          </a:bodyPr>
          <a:lstStyle/>
          <a:p>
            <a:pPr algn="l"/>
            <a:r>
              <a:rPr sz="1200" b="0" i="0">
                <a:solidFill>
                  <a:srgbClr val="1A232F"/>
                </a:solidFill>
                <a:latin typeface="Calibri"/>
              </a:rPr>
              <a:t>Audit key usage via AWS CloudTrail</a:t>
            </a:r>
          </a:p>
        </p:txBody>
      </p:sp>
      <p:sp>
        <p:nvSpPr>
          <p:cNvPr id="22" name="Rectangle 21"/>
          <p:cNvSpPr/>
          <p:nvPr/>
        </p:nvSpPr>
        <p:spPr>
          <a:xfrm>
            <a:off x="475488" y="6748272"/>
            <a:ext cx="128016" cy="128016"/>
          </a:xfrm>
          <a:prstGeom prst="rect">
            <a:avLst/>
          </a:prstGeom>
          <a:solidFill>
            <a:srgbClr val="00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13232" y="6675120"/>
            <a:ext cx="5029200" cy="384048"/>
          </a:xfrm>
          <a:prstGeom prst="rect">
            <a:avLst/>
          </a:prstGeom>
          <a:noFill/>
        </p:spPr>
        <p:txBody>
          <a:bodyPr wrap="square">
            <a:spAutoFit/>
          </a:bodyPr>
          <a:lstStyle/>
          <a:p>
            <a:pPr algn="l"/>
            <a:r>
              <a:rPr sz="1200" b="0" i="0">
                <a:solidFill>
                  <a:srgbClr val="1A232F"/>
                </a:solidFill>
                <a:latin typeface="Calibri"/>
              </a:rPr>
              <a:t>Integrates with most AWS services</a:t>
            </a:r>
          </a:p>
        </p:txBody>
      </p:sp>
      <p:sp>
        <p:nvSpPr>
          <p:cNvPr id="24" name="Rectangle 23"/>
          <p:cNvSpPr/>
          <p:nvPr/>
        </p:nvSpPr>
        <p:spPr>
          <a:xfrm>
            <a:off x="6126480" y="1371600"/>
            <a:ext cx="5760720" cy="5166360"/>
          </a:xfrm>
          <a:prstGeom prst="rect">
            <a:avLst/>
          </a:prstGeom>
          <a:solidFill>
            <a:srgbClr val="EE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26480" y="1371600"/>
            <a:ext cx="64008" cy="5166360"/>
          </a:xfrm>
          <a:prstGeom prst="rect">
            <a:avLst/>
          </a:prstGeom>
          <a:solidFill>
            <a:srgbClr val="00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09360" y="1463040"/>
            <a:ext cx="5394960" cy="411480"/>
          </a:xfrm>
          <a:prstGeom prst="rect">
            <a:avLst/>
          </a:prstGeom>
          <a:noFill/>
        </p:spPr>
        <p:txBody>
          <a:bodyPr wrap="square">
            <a:spAutoFit/>
          </a:bodyPr>
          <a:lstStyle/>
          <a:p>
            <a:pPr algn="l"/>
            <a:r>
              <a:rPr sz="1300" b="1" i="0">
                <a:solidFill>
                  <a:srgbClr val="132A45"/>
                </a:solidFill>
                <a:latin typeface="Calibri"/>
              </a:rPr>
              <a:t>AWS Console Preview</a:t>
            </a:r>
          </a:p>
        </p:txBody>
      </p:sp>
      <p:sp>
        <p:nvSpPr>
          <p:cNvPr id="27" name="Rectangle 26"/>
          <p:cNvSpPr/>
          <p:nvPr/>
        </p:nvSpPr>
        <p:spPr>
          <a:xfrm>
            <a:off x="0" y="6537960"/>
            <a:ext cx="12188952" cy="3200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6556248"/>
            <a:ext cx="11430000" cy="256032"/>
          </a:xfrm>
          <a:prstGeom prst="rect">
            <a:avLst/>
          </a:prstGeom>
          <a:noFill/>
        </p:spPr>
        <p:txBody>
          <a:bodyPr wrap="square">
            <a:spAutoFit/>
          </a:bodyPr>
          <a:lstStyle/>
          <a:p>
            <a:pPr algn="ctr"/>
            <a:r>
              <a:rPr sz="1100" b="0" i="0">
                <a:solidFill>
                  <a:srgbClr val="6C757D"/>
                </a:solidFill>
                <a:latin typeface="Calibri"/>
              </a:rPr>
              <a:t>K. Arunsai  |  DevOps Training</a:t>
            </a:r>
          </a:p>
        </p:txBody>
      </p:sp>
      <p:pic>
        <p:nvPicPr>
          <p:cNvPr id="30" name="Picture 29">
            <a:extLst>
              <a:ext uri="{FF2B5EF4-FFF2-40B4-BE49-F238E27FC236}">
                <a16:creationId xmlns:a16="http://schemas.microsoft.com/office/drawing/2014/main" id="{38287F30-5056-FCED-3BF6-45BE353CD757}"/>
              </a:ext>
            </a:extLst>
          </p:cNvPr>
          <p:cNvPicPr/>
          <p:nvPr/>
        </p:nvPicPr>
        <p:blipFill>
          <a:blip r:embed="rId2"/>
          <a:stretch>
            <a:fillRect/>
          </a:stretch>
        </p:blipFill>
        <p:spPr>
          <a:xfrm>
            <a:off x="6190488" y="1463040"/>
            <a:ext cx="5696712" cy="272948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28600" y="201168"/>
            <a:ext cx="713232" cy="713232"/>
          </a:xfrm>
          <a:prstGeom prst="rect">
            <a:avLst/>
          </a:prstGeom>
          <a:solidFill>
            <a:srgbClr val="00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201168"/>
            <a:ext cx="713232" cy="713232"/>
          </a:xfrm>
          <a:prstGeom prst="rect">
            <a:avLst/>
          </a:prstGeom>
          <a:noFill/>
        </p:spPr>
        <p:txBody>
          <a:bodyPr wrap="square">
            <a:spAutoFit/>
          </a:bodyPr>
          <a:lstStyle/>
          <a:p>
            <a:pPr algn="ctr"/>
            <a:r>
              <a:rPr sz="1800" b="1" i="0">
                <a:solidFill>
                  <a:srgbClr val="FFFFFF"/>
                </a:solidFill>
                <a:latin typeface="Calibri"/>
              </a:rPr>
              <a:t>03</a:t>
            </a:r>
          </a:p>
        </p:txBody>
      </p:sp>
      <p:sp>
        <p:nvSpPr>
          <p:cNvPr id="5" name="TextBox 4"/>
          <p:cNvSpPr txBox="1"/>
          <p:nvPr/>
        </p:nvSpPr>
        <p:spPr>
          <a:xfrm>
            <a:off x="1097280" y="73152"/>
            <a:ext cx="9144000" cy="621792"/>
          </a:xfrm>
          <a:prstGeom prst="rect">
            <a:avLst/>
          </a:prstGeom>
          <a:noFill/>
        </p:spPr>
        <p:txBody>
          <a:bodyPr wrap="square">
            <a:spAutoFit/>
          </a:bodyPr>
          <a:lstStyle/>
          <a:p>
            <a:pPr algn="l"/>
            <a:r>
              <a:rPr sz="2800" b="1" i="0">
                <a:solidFill>
                  <a:srgbClr val="FFFFFF"/>
                </a:solidFill>
                <a:latin typeface="Calibri"/>
              </a:rPr>
              <a:t>AWS KMS</a:t>
            </a:r>
          </a:p>
        </p:txBody>
      </p:sp>
      <p:sp>
        <p:nvSpPr>
          <p:cNvPr id="6" name="TextBox 5"/>
          <p:cNvSpPr txBox="1"/>
          <p:nvPr/>
        </p:nvSpPr>
        <p:spPr>
          <a:xfrm>
            <a:off x="1097280" y="713232"/>
            <a:ext cx="9144000" cy="411480"/>
          </a:xfrm>
          <a:prstGeom prst="rect">
            <a:avLst/>
          </a:prstGeom>
          <a:noFill/>
        </p:spPr>
        <p:txBody>
          <a:bodyPr wrap="square">
            <a:spAutoFit/>
          </a:bodyPr>
          <a:lstStyle/>
          <a:p>
            <a:pPr algn="l"/>
            <a:r>
              <a:rPr sz="1300" b="0" i="0">
                <a:solidFill>
                  <a:srgbClr val="BBCCDD"/>
                </a:solidFill>
                <a:latin typeface="Calibri"/>
              </a:rPr>
              <a:t>Key Management Service</a:t>
            </a:r>
          </a:p>
        </p:txBody>
      </p:sp>
      <p:sp>
        <p:nvSpPr>
          <p:cNvPr id="7" name="Rectangle 6"/>
          <p:cNvSpPr/>
          <p:nvPr/>
        </p:nvSpPr>
        <p:spPr>
          <a:xfrm>
            <a:off x="274320" y="1371600"/>
            <a:ext cx="11887200" cy="51663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371600"/>
            <a:ext cx="5394960" cy="5166360"/>
          </a:xfrm>
          <a:prstGeom prst="rect">
            <a:avLst/>
          </a:prstGeom>
          <a:solidFill>
            <a:srgbClr val="EE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371600"/>
            <a:ext cx="64008" cy="5166360"/>
          </a:xfrm>
          <a:prstGeom prst="rect">
            <a:avLst/>
          </a:prstGeom>
          <a:solidFill>
            <a:srgbClr val="00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463040"/>
            <a:ext cx="5120640" cy="411480"/>
          </a:xfrm>
          <a:prstGeom prst="rect">
            <a:avLst/>
          </a:prstGeom>
          <a:noFill/>
        </p:spPr>
        <p:txBody>
          <a:bodyPr wrap="square">
            <a:spAutoFit/>
          </a:bodyPr>
          <a:lstStyle/>
          <a:p>
            <a:pPr algn="l"/>
            <a:r>
              <a:rPr sz="1300" b="1" i="0">
                <a:solidFill>
                  <a:srgbClr val="132A45"/>
                </a:solidFill>
                <a:latin typeface="Calibri"/>
              </a:rPr>
              <a:t>Steps 1–4: Create &amp; Configure Key</a:t>
            </a:r>
          </a:p>
        </p:txBody>
      </p:sp>
      <p:sp>
        <p:nvSpPr>
          <p:cNvPr id="11" name="Rectangle 10"/>
          <p:cNvSpPr/>
          <p:nvPr/>
        </p:nvSpPr>
        <p:spPr>
          <a:xfrm>
            <a:off x="475488" y="1965960"/>
            <a:ext cx="347472" cy="347472"/>
          </a:xfrm>
          <a:prstGeom prst="rect">
            <a:avLst/>
          </a:prstGeom>
          <a:solidFill>
            <a:srgbClr val="00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5488" y="1965960"/>
            <a:ext cx="347472" cy="347472"/>
          </a:xfrm>
          <a:prstGeom prst="rect">
            <a:avLst/>
          </a:prstGeom>
          <a:noFill/>
        </p:spPr>
        <p:txBody>
          <a:bodyPr wrap="square">
            <a:spAutoFit/>
          </a:bodyPr>
          <a:lstStyle/>
          <a:p>
            <a:pPr algn="ctr"/>
            <a:r>
              <a:rPr sz="1100" b="1" i="0">
                <a:solidFill>
                  <a:srgbClr val="FFFFFF"/>
                </a:solidFill>
                <a:latin typeface="Calibri"/>
              </a:rPr>
              <a:t>1</a:t>
            </a:r>
          </a:p>
        </p:txBody>
      </p:sp>
      <p:sp>
        <p:nvSpPr>
          <p:cNvPr id="13" name="TextBox 12"/>
          <p:cNvSpPr txBox="1"/>
          <p:nvPr/>
        </p:nvSpPr>
        <p:spPr>
          <a:xfrm>
            <a:off x="932688" y="1965960"/>
            <a:ext cx="4663440" cy="457200"/>
          </a:xfrm>
          <a:prstGeom prst="rect">
            <a:avLst/>
          </a:prstGeom>
          <a:noFill/>
        </p:spPr>
        <p:txBody>
          <a:bodyPr wrap="square">
            <a:spAutoFit/>
          </a:bodyPr>
          <a:lstStyle/>
          <a:p>
            <a:pPr algn="l"/>
            <a:r>
              <a:rPr sz="1100" b="0" i="0">
                <a:solidFill>
                  <a:srgbClr val="1A232F"/>
                </a:solidFill>
                <a:latin typeface="Calibri"/>
              </a:rPr>
              <a:t>Open AWS Console → Search 'Key Management Service'</a:t>
            </a:r>
          </a:p>
        </p:txBody>
      </p:sp>
      <p:sp>
        <p:nvSpPr>
          <p:cNvPr id="14" name="Rectangle 13"/>
          <p:cNvSpPr/>
          <p:nvPr/>
        </p:nvSpPr>
        <p:spPr>
          <a:xfrm>
            <a:off x="475488" y="2468880"/>
            <a:ext cx="347472" cy="347472"/>
          </a:xfrm>
          <a:prstGeom prst="rect">
            <a:avLst/>
          </a:prstGeom>
          <a:solidFill>
            <a:srgbClr val="00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5488" y="2468880"/>
            <a:ext cx="347472" cy="347472"/>
          </a:xfrm>
          <a:prstGeom prst="rect">
            <a:avLst/>
          </a:prstGeom>
          <a:noFill/>
        </p:spPr>
        <p:txBody>
          <a:bodyPr wrap="square">
            <a:spAutoFit/>
          </a:bodyPr>
          <a:lstStyle/>
          <a:p>
            <a:pPr algn="ctr"/>
            <a:r>
              <a:rPr sz="1100" b="1" i="0">
                <a:solidFill>
                  <a:srgbClr val="FFFFFF"/>
                </a:solidFill>
                <a:latin typeface="Calibri"/>
              </a:rPr>
              <a:t>2</a:t>
            </a:r>
          </a:p>
        </p:txBody>
      </p:sp>
      <p:sp>
        <p:nvSpPr>
          <p:cNvPr id="16" name="TextBox 15"/>
          <p:cNvSpPr txBox="1"/>
          <p:nvPr/>
        </p:nvSpPr>
        <p:spPr>
          <a:xfrm>
            <a:off x="932688" y="2468880"/>
            <a:ext cx="4663440" cy="457200"/>
          </a:xfrm>
          <a:prstGeom prst="rect">
            <a:avLst/>
          </a:prstGeom>
          <a:noFill/>
        </p:spPr>
        <p:txBody>
          <a:bodyPr wrap="square">
            <a:spAutoFit/>
          </a:bodyPr>
          <a:lstStyle/>
          <a:p>
            <a:pPr algn="l"/>
            <a:r>
              <a:rPr sz="1100" b="0" i="0">
                <a:solidFill>
                  <a:srgbClr val="1A232F"/>
                </a:solidFill>
                <a:latin typeface="Calibri"/>
              </a:rPr>
              <a:t>Click 'Create a key'</a:t>
            </a:r>
          </a:p>
        </p:txBody>
      </p:sp>
      <p:sp>
        <p:nvSpPr>
          <p:cNvPr id="17" name="Rectangle 16"/>
          <p:cNvSpPr/>
          <p:nvPr/>
        </p:nvSpPr>
        <p:spPr>
          <a:xfrm>
            <a:off x="475488" y="2971800"/>
            <a:ext cx="347472" cy="347472"/>
          </a:xfrm>
          <a:prstGeom prst="rect">
            <a:avLst/>
          </a:prstGeom>
          <a:solidFill>
            <a:srgbClr val="00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5488" y="2971800"/>
            <a:ext cx="347472" cy="347472"/>
          </a:xfrm>
          <a:prstGeom prst="rect">
            <a:avLst/>
          </a:prstGeom>
          <a:noFill/>
        </p:spPr>
        <p:txBody>
          <a:bodyPr wrap="square">
            <a:spAutoFit/>
          </a:bodyPr>
          <a:lstStyle/>
          <a:p>
            <a:pPr algn="ctr"/>
            <a:r>
              <a:rPr sz="1100" b="1" i="0">
                <a:solidFill>
                  <a:srgbClr val="FFFFFF"/>
                </a:solidFill>
                <a:latin typeface="Calibri"/>
              </a:rPr>
              <a:t>3</a:t>
            </a:r>
          </a:p>
        </p:txBody>
      </p:sp>
      <p:sp>
        <p:nvSpPr>
          <p:cNvPr id="19" name="TextBox 18"/>
          <p:cNvSpPr txBox="1"/>
          <p:nvPr/>
        </p:nvSpPr>
        <p:spPr>
          <a:xfrm>
            <a:off x="932688" y="2971800"/>
            <a:ext cx="4663440" cy="457200"/>
          </a:xfrm>
          <a:prstGeom prst="rect">
            <a:avLst/>
          </a:prstGeom>
          <a:noFill/>
        </p:spPr>
        <p:txBody>
          <a:bodyPr wrap="square">
            <a:spAutoFit/>
          </a:bodyPr>
          <a:lstStyle/>
          <a:p>
            <a:pPr algn="l"/>
            <a:r>
              <a:rPr sz="1100" b="0" i="0">
                <a:solidFill>
                  <a:srgbClr val="1A232F"/>
                </a:solidFill>
                <a:latin typeface="Calibri"/>
              </a:rPr>
              <a:t>Key type: Symmetric</a:t>
            </a:r>
          </a:p>
        </p:txBody>
      </p:sp>
      <p:sp>
        <p:nvSpPr>
          <p:cNvPr id="20" name="Rectangle 19"/>
          <p:cNvSpPr/>
          <p:nvPr/>
        </p:nvSpPr>
        <p:spPr>
          <a:xfrm>
            <a:off x="475488" y="3474720"/>
            <a:ext cx="347472" cy="347472"/>
          </a:xfrm>
          <a:prstGeom prst="rect">
            <a:avLst/>
          </a:prstGeom>
          <a:solidFill>
            <a:srgbClr val="00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5488" y="3474720"/>
            <a:ext cx="347472" cy="347472"/>
          </a:xfrm>
          <a:prstGeom prst="rect">
            <a:avLst/>
          </a:prstGeom>
          <a:noFill/>
        </p:spPr>
        <p:txBody>
          <a:bodyPr wrap="square">
            <a:spAutoFit/>
          </a:bodyPr>
          <a:lstStyle/>
          <a:p>
            <a:pPr algn="ctr"/>
            <a:r>
              <a:rPr sz="1100" b="1" i="0">
                <a:solidFill>
                  <a:srgbClr val="FFFFFF"/>
                </a:solidFill>
                <a:latin typeface="Calibri"/>
              </a:rPr>
              <a:t>4</a:t>
            </a:r>
          </a:p>
        </p:txBody>
      </p:sp>
      <p:sp>
        <p:nvSpPr>
          <p:cNvPr id="22" name="TextBox 21"/>
          <p:cNvSpPr txBox="1"/>
          <p:nvPr/>
        </p:nvSpPr>
        <p:spPr>
          <a:xfrm>
            <a:off x="932688" y="3474720"/>
            <a:ext cx="4663440" cy="457200"/>
          </a:xfrm>
          <a:prstGeom prst="rect">
            <a:avLst/>
          </a:prstGeom>
          <a:noFill/>
        </p:spPr>
        <p:txBody>
          <a:bodyPr wrap="square">
            <a:spAutoFit/>
          </a:bodyPr>
          <a:lstStyle/>
          <a:p>
            <a:pPr algn="l"/>
            <a:r>
              <a:rPr sz="1100" b="0" i="0">
                <a:solidFill>
                  <a:srgbClr val="1A232F"/>
                </a:solidFill>
                <a:latin typeface="Calibri"/>
              </a:rPr>
              <a:t>Key usage: Encrypt and Decrypt</a:t>
            </a:r>
          </a:p>
        </p:txBody>
      </p:sp>
      <p:sp>
        <p:nvSpPr>
          <p:cNvPr id="23" name="Rectangle 22"/>
          <p:cNvSpPr/>
          <p:nvPr/>
        </p:nvSpPr>
        <p:spPr>
          <a:xfrm>
            <a:off x="475488" y="3977639"/>
            <a:ext cx="347472" cy="347472"/>
          </a:xfrm>
          <a:prstGeom prst="rect">
            <a:avLst/>
          </a:prstGeom>
          <a:solidFill>
            <a:srgbClr val="00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5488" y="3977639"/>
            <a:ext cx="347472" cy="347472"/>
          </a:xfrm>
          <a:prstGeom prst="rect">
            <a:avLst/>
          </a:prstGeom>
          <a:noFill/>
        </p:spPr>
        <p:txBody>
          <a:bodyPr wrap="square">
            <a:spAutoFit/>
          </a:bodyPr>
          <a:lstStyle/>
          <a:p>
            <a:pPr algn="ctr"/>
            <a:r>
              <a:rPr sz="1100" b="1" i="0">
                <a:solidFill>
                  <a:srgbClr val="FFFFFF"/>
                </a:solidFill>
                <a:latin typeface="Calibri"/>
              </a:rPr>
              <a:t>5</a:t>
            </a:r>
          </a:p>
        </p:txBody>
      </p:sp>
      <p:sp>
        <p:nvSpPr>
          <p:cNvPr id="25" name="TextBox 24"/>
          <p:cNvSpPr txBox="1"/>
          <p:nvPr/>
        </p:nvSpPr>
        <p:spPr>
          <a:xfrm>
            <a:off x="932688" y="3977639"/>
            <a:ext cx="4663440" cy="457200"/>
          </a:xfrm>
          <a:prstGeom prst="rect">
            <a:avLst/>
          </a:prstGeom>
          <a:noFill/>
        </p:spPr>
        <p:txBody>
          <a:bodyPr wrap="square">
            <a:spAutoFit/>
          </a:bodyPr>
          <a:lstStyle/>
          <a:p>
            <a:pPr algn="l"/>
            <a:r>
              <a:rPr sz="1100" b="0" i="0">
                <a:solidFill>
                  <a:srgbClr val="1A232F"/>
                </a:solidFill>
                <a:latin typeface="Calibri"/>
              </a:rPr>
              <a:t>Enter alias: my-ecommerce-kws</a:t>
            </a:r>
          </a:p>
        </p:txBody>
      </p:sp>
      <p:sp>
        <p:nvSpPr>
          <p:cNvPr id="26" name="Rectangle 25"/>
          <p:cNvSpPr/>
          <p:nvPr/>
        </p:nvSpPr>
        <p:spPr>
          <a:xfrm>
            <a:off x="475488" y="4480559"/>
            <a:ext cx="347472" cy="347472"/>
          </a:xfrm>
          <a:prstGeom prst="rect">
            <a:avLst/>
          </a:prstGeom>
          <a:solidFill>
            <a:srgbClr val="00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75488" y="4480559"/>
            <a:ext cx="347472" cy="347472"/>
          </a:xfrm>
          <a:prstGeom prst="rect">
            <a:avLst/>
          </a:prstGeom>
          <a:noFill/>
        </p:spPr>
        <p:txBody>
          <a:bodyPr wrap="square">
            <a:spAutoFit/>
          </a:bodyPr>
          <a:lstStyle/>
          <a:p>
            <a:pPr algn="ctr"/>
            <a:r>
              <a:rPr sz="1100" b="1" i="0">
                <a:solidFill>
                  <a:srgbClr val="FFFFFF"/>
                </a:solidFill>
                <a:latin typeface="Calibri"/>
              </a:rPr>
              <a:t>6</a:t>
            </a:r>
          </a:p>
        </p:txBody>
      </p:sp>
      <p:sp>
        <p:nvSpPr>
          <p:cNvPr id="28" name="TextBox 27"/>
          <p:cNvSpPr txBox="1"/>
          <p:nvPr/>
        </p:nvSpPr>
        <p:spPr>
          <a:xfrm>
            <a:off x="932688" y="4480559"/>
            <a:ext cx="4663440" cy="457200"/>
          </a:xfrm>
          <a:prstGeom prst="rect">
            <a:avLst/>
          </a:prstGeom>
          <a:noFill/>
        </p:spPr>
        <p:txBody>
          <a:bodyPr wrap="square">
            <a:spAutoFit/>
          </a:bodyPr>
          <a:lstStyle/>
          <a:p>
            <a:pPr algn="l"/>
            <a:r>
              <a:rPr sz="1100" b="0" i="0">
                <a:solidFill>
                  <a:srgbClr val="1A232F"/>
                </a:solidFill>
                <a:latin typeface="Calibri"/>
              </a:rPr>
              <a:t>Add description: KMS key for encrypting ecommerce app data</a:t>
            </a:r>
          </a:p>
        </p:txBody>
      </p:sp>
      <p:sp>
        <p:nvSpPr>
          <p:cNvPr id="29" name="Rectangle 28"/>
          <p:cNvSpPr/>
          <p:nvPr/>
        </p:nvSpPr>
        <p:spPr>
          <a:xfrm>
            <a:off x="5897880" y="1371600"/>
            <a:ext cx="6263640" cy="5166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897880" y="1371600"/>
            <a:ext cx="64008" cy="51663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kms_1.jpg"/>
          <p:cNvPicPr>
            <a:picLocks noChangeAspect="1"/>
          </p:cNvPicPr>
          <p:nvPr/>
        </p:nvPicPr>
        <p:blipFill>
          <a:blip r:embed="rId2"/>
          <a:stretch>
            <a:fillRect/>
          </a:stretch>
        </p:blipFill>
        <p:spPr>
          <a:xfrm>
            <a:off x="6035040" y="1508760"/>
            <a:ext cx="6035040" cy="4480560"/>
          </a:xfrm>
          <a:prstGeom prst="rect">
            <a:avLst/>
          </a:prstGeom>
        </p:spPr>
      </p:pic>
      <p:sp>
        <p:nvSpPr>
          <p:cNvPr id="32" name="TextBox 31"/>
          <p:cNvSpPr txBox="1"/>
          <p:nvPr/>
        </p:nvSpPr>
        <p:spPr>
          <a:xfrm>
            <a:off x="6035040" y="6035040"/>
            <a:ext cx="6035040" cy="365760"/>
          </a:xfrm>
          <a:prstGeom prst="rect">
            <a:avLst/>
          </a:prstGeom>
          <a:noFill/>
        </p:spPr>
        <p:txBody>
          <a:bodyPr wrap="square">
            <a:spAutoFit/>
          </a:bodyPr>
          <a:lstStyle/>
          <a:p>
            <a:pPr algn="l"/>
            <a:r>
              <a:rPr sz="1000" b="0" i="1">
                <a:solidFill>
                  <a:srgbClr val="6C757D"/>
                </a:solidFill>
                <a:latin typeface="Calibri"/>
              </a:rPr>
              <a:t>KMS Console — Key Type &amp; Usage Configuration</a:t>
            </a:r>
          </a:p>
        </p:txBody>
      </p:sp>
      <p:sp>
        <p:nvSpPr>
          <p:cNvPr id="33" name="Rectangle 32"/>
          <p:cNvSpPr/>
          <p:nvPr/>
        </p:nvSpPr>
        <p:spPr>
          <a:xfrm>
            <a:off x="0" y="6537960"/>
            <a:ext cx="12188952" cy="3200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6556248"/>
            <a:ext cx="11430000" cy="261610"/>
          </a:xfrm>
          <a:prstGeom prst="rect">
            <a:avLst/>
          </a:prstGeom>
          <a:noFill/>
        </p:spPr>
        <p:txBody>
          <a:bodyPr wrap="square">
            <a:spAutoFit/>
          </a:bodyPr>
          <a:lstStyle/>
          <a:p>
            <a:pPr algn="ctr"/>
            <a:r>
              <a:rPr sz="1100" b="0" i="0" dirty="0">
                <a:solidFill>
                  <a:srgbClr val="6C757D"/>
                </a:solidFill>
                <a:latin typeface="Calibri"/>
              </a:rPr>
              <a:t>K. </a:t>
            </a:r>
            <a:r>
              <a:rPr sz="1100" b="0" i="0" dirty="0" err="1">
                <a:solidFill>
                  <a:srgbClr val="6C757D"/>
                </a:solidFill>
                <a:latin typeface="Calibri"/>
              </a:rPr>
              <a:t>Arunsai</a:t>
            </a:r>
            <a:r>
              <a:rPr sz="1100" b="0" i="0" dirty="0">
                <a:solidFill>
                  <a:srgbClr val="6C757D"/>
                </a:solidFill>
                <a:latin typeface="Calibri"/>
              </a:rPr>
              <a:t>  |  DevOps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28600" y="201168"/>
            <a:ext cx="713232" cy="713232"/>
          </a:xfrm>
          <a:prstGeom prst="rect">
            <a:avLst/>
          </a:prstGeom>
          <a:solidFill>
            <a:srgbClr val="00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201168"/>
            <a:ext cx="713232" cy="713232"/>
          </a:xfrm>
          <a:prstGeom prst="rect">
            <a:avLst/>
          </a:prstGeom>
          <a:noFill/>
        </p:spPr>
        <p:txBody>
          <a:bodyPr wrap="square">
            <a:spAutoFit/>
          </a:bodyPr>
          <a:lstStyle/>
          <a:p>
            <a:pPr algn="ctr"/>
            <a:r>
              <a:rPr sz="1800" b="1" i="0">
                <a:solidFill>
                  <a:srgbClr val="FFFFFF"/>
                </a:solidFill>
                <a:latin typeface="Calibri"/>
              </a:rPr>
              <a:t>03</a:t>
            </a:r>
          </a:p>
        </p:txBody>
      </p:sp>
      <p:sp>
        <p:nvSpPr>
          <p:cNvPr id="5" name="TextBox 4"/>
          <p:cNvSpPr txBox="1"/>
          <p:nvPr/>
        </p:nvSpPr>
        <p:spPr>
          <a:xfrm>
            <a:off x="1097280" y="73152"/>
            <a:ext cx="9144000" cy="621792"/>
          </a:xfrm>
          <a:prstGeom prst="rect">
            <a:avLst/>
          </a:prstGeom>
          <a:noFill/>
        </p:spPr>
        <p:txBody>
          <a:bodyPr wrap="square">
            <a:spAutoFit/>
          </a:bodyPr>
          <a:lstStyle/>
          <a:p>
            <a:pPr algn="l"/>
            <a:r>
              <a:rPr sz="2800" b="1" i="0">
                <a:solidFill>
                  <a:srgbClr val="FFFFFF"/>
                </a:solidFill>
                <a:latin typeface="Calibri"/>
              </a:rPr>
              <a:t>AWS KMS</a:t>
            </a:r>
          </a:p>
        </p:txBody>
      </p:sp>
      <p:sp>
        <p:nvSpPr>
          <p:cNvPr id="6" name="TextBox 5"/>
          <p:cNvSpPr txBox="1"/>
          <p:nvPr/>
        </p:nvSpPr>
        <p:spPr>
          <a:xfrm>
            <a:off x="1097280" y="713232"/>
            <a:ext cx="9144000" cy="411480"/>
          </a:xfrm>
          <a:prstGeom prst="rect">
            <a:avLst/>
          </a:prstGeom>
          <a:noFill/>
        </p:spPr>
        <p:txBody>
          <a:bodyPr wrap="square">
            <a:spAutoFit/>
          </a:bodyPr>
          <a:lstStyle/>
          <a:p>
            <a:pPr algn="l"/>
            <a:r>
              <a:rPr sz="1300" b="0" i="0">
                <a:solidFill>
                  <a:srgbClr val="BBCCDD"/>
                </a:solidFill>
                <a:latin typeface="Calibri"/>
              </a:rPr>
              <a:t>Key Management Service</a:t>
            </a:r>
          </a:p>
        </p:txBody>
      </p:sp>
      <p:sp>
        <p:nvSpPr>
          <p:cNvPr id="7" name="Rectangle 6"/>
          <p:cNvSpPr/>
          <p:nvPr/>
        </p:nvSpPr>
        <p:spPr>
          <a:xfrm>
            <a:off x="274320" y="1371600"/>
            <a:ext cx="11887200" cy="51663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371600"/>
            <a:ext cx="5394960" cy="5166360"/>
          </a:xfrm>
          <a:prstGeom prst="rect">
            <a:avLst/>
          </a:prstGeom>
          <a:solidFill>
            <a:srgbClr val="EE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371600"/>
            <a:ext cx="64008" cy="5166360"/>
          </a:xfrm>
          <a:prstGeom prst="rect">
            <a:avLst/>
          </a:prstGeom>
          <a:solidFill>
            <a:srgbClr val="00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463040"/>
            <a:ext cx="5120640" cy="411480"/>
          </a:xfrm>
          <a:prstGeom prst="rect">
            <a:avLst/>
          </a:prstGeom>
          <a:noFill/>
        </p:spPr>
        <p:txBody>
          <a:bodyPr wrap="square">
            <a:spAutoFit/>
          </a:bodyPr>
          <a:lstStyle/>
          <a:p>
            <a:pPr algn="l"/>
            <a:r>
              <a:rPr sz="1300" b="1" i="0">
                <a:solidFill>
                  <a:srgbClr val="132A45"/>
                </a:solidFill>
                <a:latin typeface="Calibri"/>
              </a:rPr>
              <a:t>Steps 5–8: Permissions &amp; Activation</a:t>
            </a:r>
          </a:p>
        </p:txBody>
      </p:sp>
      <p:sp>
        <p:nvSpPr>
          <p:cNvPr id="11" name="Rectangle 10"/>
          <p:cNvSpPr/>
          <p:nvPr/>
        </p:nvSpPr>
        <p:spPr>
          <a:xfrm>
            <a:off x="475488" y="1965960"/>
            <a:ext cx="347472" cy="347472"/>
          </a:xfrm>
          <a:prstGeom prst="rect">
            <a:avLst/>
          </a:prstGeom>
          <a:solidFill>
            <a:srgbClr val="00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5488" y="1965960"/>
            <a:ext cx="347472" cy="347472"/>
          </a:xfrm>
          <a:prstGeom prst="rect">
            <a:avLst/>
          </a:prstGeom>
          <a:noFill/>
        </p:spPr>
        <p:txBody>
          <a:bodyPr wrap="square">
            <a:spAutoFit/>
          </a:bodyPr>
          <a:lstStyle/>
          <a:p>
            <a:pPr algn="ctr"/>
            <a:r>
              <a:rPr sz="1100" b="1" i="0">
                <a:solidFill>
                  <a:srgbClr val="FFFFFF"/>
                </a:solidFill>
                <a:latin typeface="Calibri"/>
              </a:rPr>
              <a:t>1</a:t>
            </a:r>
          </a:p>
        </p:txBody>
      </p:sp>
      <p:sp>
        <p:nvSpPr>
          <p:cNvPr id="13" name="TextBox 12"/>
          <p:cNvSpPr txBox="1"/>
          <p:nvPr/>
        </p:nvSpPr>
        <p:spPr>
          <a:xfrm>
            <a:off x="932688" y="1965960"/>
            <a:ext cx="4663440" cy="457200"/>
          </a:xfrm>
          <a:prstGeom prst="rect">
            <a:avLst/>
          </a:prstGeom>
          <a:noFill/>
        </p:spPr>
        <p:txBody>
          <a:bodyPr wrap="square">
            <a:spAutoFit/>
          </a:bodyPr>
          <a:lstStyle/>
          <a:p>
            <a:pPr algn="l"/>
            <a:r>
              <a:rPr sz="1100" b="0" i="0">
                <a:solidFill>
                  <a:srgbClr val="1A232F"/>
                </a:solidFill>
                <a:latin typeface="Calibri"/>
              </a:rPr>
              <a:t>Define key administrators — select IAM user (e.g. Devops)</a:t>
            </a:r>
          </a:p>
        </p:txBody>
      </p:sp>
      <p:sp>
        <p:nvSpPr>
          <p:cNvPr id="14" name="Rectangle 13"/>
          <p:cNvSpPr/>
          <p:nvPr/>
        </p:nvSpPr>
        <p:spPr>
          <a:xfrm>
            <a:off x="475488" y="2468880"/>
            <a:ext cx="347472" cy="347472"/>
          </a:xfrm>
          <a:prstGeom prst="rect">
            <a:avLst/>
          </a:prstGeom>
          <a:solidFill>
            <a:srgbClr val="00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5488" y="2468880"/>
            <a:ext cx="347472" cy="347472"/>
          </a:xfrm>
          <a:prstGeom prst="rect">
            <a:avLst/>
          </a:prstGeom>
          <a:noFill/>
        </p:spPr>
        <p:txBody>
          <a:bodyPr wrap="square">
            <a:spAutoFit/>
          </a:bodyPr>
          <a:lstStyle/>
          <a:p>
            <a:pPr algn="ctr"/>
            <a:r>
              <a:rPr sz="1100" b="1" i="0">
                <a:solidFill>
                  <a:srgbClr val="FFFFFF"/>
                </a:solidFill>
                <a:latin typeface="Calibri"/>
              </a:rPr>
              <a:t>2</a:t>
            </a:r>
          </a:p>
        </p:txBody>
      </p:sp>
      <p:sp>
        <p:nvSpPr>
          <p:cNvPr id="16" name="TextBox 15"/>
          <p:cNvSpPr txBox="1"/>
          <p:nvPr/>
        </p:nvSpPr>
        <p:spPr>
          <a:xfrm>
            <a:off x="932688" y="2468880"/>
            <a:ext cx="4663440" cy="457200"/>
          </a:xfrm>
          <a:prstGeom prst="rect">
            <a:avLst/>
          </a:prstGeom>
          <a:noFill/>
        </p:spPr>
        <p:txBody>
          <a:bodyPr wrap="square">
            <a:spAutoFit/>
          </a:bodyPr>
          <a:lstStyle/>
          <a:p>
            <a:pPr algn="l"/>
            <a:r>
              <a:rPr sz="1100" b="0" i="0">
                <a:solidFill>
                  <a:srgbClr val="1A232F"/>
                </a:solidFill>
                <a:latin typeface="Calibri"/>
              </a:rPr>
              <a:t>Define key usage permissions for consumers</a:t>
            </a:r>
          </a:p>
        </p:txBody>
      </p:sp>
      <p:sp>
        <p:nvSpPr>
          <p:cNvPr id="17" name="Rectangle 16"/>
          <p:cNvSpPr/>
          <p:nvPr/>
        </p:nvSpPr>
        <p:spPr>
          <a:xfrm>
            <a:off x="475488" y="2971800"/>
            <a:ext cx="347472" cy="347472"/>
          </a:xfrm>
          <a:prstGeom prst="rect">
            <a:avLst/>
          </a:prstGeom>
          <a:solidFill>
            <a:srgbClr val="00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5488" y="2971800"/>
            <a:ext cx="347472" cy="347472"/>
          </a:xfrm>
          <a:prstGeom prst="rect">
            <a:avLst/>
          </a:prstGeom>
          <a:noFill/>
        </p:spPr>
        <p:txBody>
          <a:bodyPr wrap="square">
            <a:spAutoFit/>
          </a:bodyPr>
          <a:lstStyle/>
          <a:p>
            <a:pPr algn="ctr"/>
            <a:r>
              <a:rPr sz="1100" b="1" i="0">
                <a:solidFill>
                  <a:srgbClr val="FFFFFF"/>
                </a:solidFill>
                <a:latin typeface="Calibri"/>
              </a:rPr>
              <a:t>3</a:t>
            </a:r>
          </a:p>
        </p:txBody>
      </p:sp>
      <p:sp>
        <p:nvSpPr>
          <p:cNvPr id="19" name="TextBox 18"/>
          <p:cNvSpPr txBox="1"/>
          <p:nvPr/>
        </p:nvSpPr>
        <p:spPr>
          <a:xfrm>
            <a:off x="932688" y="2971800"/>
            <a:ext cx="4663440" cy="457200"/>
          </a:xfrm>
          <a:prstGeom prst="rect">
            <a:avLst/>
          </a:prstGeom>
          <a:noFill/>
        </p:spPr>
        <p:txBody>
          <a:bodyPr wrap="square">
            <a:spAutoFit/>
          </a:bodyPr>
          <a:lstStyle/>
          <a:p>
            <a:pPr algn="l"/>
            <a:r>
              <a:rPr sz="1100" b="0" i="0">
                <a:solidFill>
                  <a:srgbClr val="1A232F"/>
                </a:solidFill>
                <a:latin typeface="Calibri"/>
              </a:rPr>
              <a:t>Review and optionally edit the JSON key policy</a:t>
            </a:r>
          </a:p>
        </p:txBody>
      </p:sp>
      <p:sp>
        <p:nvSpPr>
          <p:cNvPr id="20" name="Rectangle 19"/>
          <p:cNvSpPr/>
          <p:nvPr/>
        </p:nvSpPr>
        <p:spPr>
          <a:xfrm>
            <a:off x="475488" y="3474720"/>
            <a:ext cx="347472" cy="347472"/>
          </a:xfrm>
          <a:prstGeom prst="rect">
            <a:avLst/>
          </a:prstGeom>
          <a:solidFill>
            <a:srgbClr val="00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5488" y="3474720"/>
            <a:ext cx="347472" cy="347472"/>
          </a:xfrm>
          <a:prstGeom prst="rect">
            <a:avLst/>
          </a:prstGeom>
          <a:noFill/>
        </p:spPr>
        <p:txBody>
          <a:bodyPr wrap="square">
            <a:spAutoFit/>
          </a:bodyPr>
          <a:lstStyle/>
          <a:p>
            <a:pPr algn="ctr"/>
            <a:r>
              <a:rPr sz="1100" b="1" i="0">
                <a:solidFill>
                  <a:srgbClr val="FFFFFF"/>
                </a:solidFill>
                <a:latin typeface="Calibri"/>
              </a:rPr>
              <a:t>4</a:t>
            </a:r>
          </a:p>
        </p:txBody>
      </p:sp>
      <p:sp>
        <p:nvSpPr>
          <p:cNvPr id="22" name="TextBox 21"/>
          <p:cNvSpPr txBox="1"/>
          <p:nvPr/>
        </p:nvSpPr>
        <p:spPr>
          <a:xfrm>
            <a:off x="932688" y="3474720"/>
            <a:ext cx="4663440" cy="457200"/>
          </a:xfrm>
          <a:prstGeom prst="rect">
            <a:avLst/>
          </a:prstGeom>
          <a:noFill/>
        </p:spPr>
        <p:txBody>
          <a:bodyPr wrap="square">
            <a:spAutoFit/>
          </a:bodyPr>
          <a:lstStyle/>
          <a:p>
            <a:pPr algn="l"/>
            <a:r>
              <a:rPr sz="1100" b="0" i="0">
                <a:solidFill>
                  <a:srgbClr val="1A232F"/>
                </a:solidFill>
                <a:latin typeface="Calibri"/>
              </a:rPr>
              <a:t>Click Finish to create the key</a:t>
            </a:r>
          </a:p>
        </p:txBody>
      </p:sp>
      <p:sp>
        <p:nvSpPr>
          <p:cNvPr id="23" name="Rectangle 22"/>
          <p:cNvSpPr/>
          <p:nvPr/>
        </p:nvSpPr>
        <p:spPr>
          <a:xfrm>
            <a:off x="475488" y="3977639"/>
            <a:ext cx="347472" cy="347472"/>
          </a:xfrm>
          <a:prstGeom prst="rect">
            <a:avLst/>
          </a:prstGeom>
          <a:solidFill>
            <a:srgbClr val="0096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5488" y="3977639"/>
            <a:ext cx="347472" cy="347472"/>
          </a:xfrm>
          <a:prstGeom prst="rect">
            <a:avLst/>
          </a:prstGeom>
          <a:noFill/>
        </p:spPr>
        <p:txBody>
          <a:bodyPr wrap="square">
            <a:spAutoFit/>
          </a:bodyPr>
          <a:lstStyle/>
          <a:p>
            <a:pPr algn="ctr"/>
            <a:r>
              <a:rPr sz="1100" b="1" i="0">
                <a:solidFill>
                  <a:srgbClr val="FFFFFF"/>
                </a:solidFill>
                <a:latin typeface="Calibri"/>
              </a:rPr>
              <a:t>5</a:t>
            </a:r>
          </a:p>
        </p:txBody>
      </p:sp>
      <p:sp>
        <p:nvSpPr>
          <p:cNvPr id="25" name="TextBox 24"/>
          <p:cNvSpPr txBox="1"/>
          <p:nvPr/>
        </p:nvSpPr>
        <p:spPr>
          <a:xfrm>
            <a:off x="932688" y="3977639"/>
            <a:ext cx="4663440" cy="457200"/>
          </a:xfrm>
          <a:prstGeom prst="rect">
            <a:avLst/>
          </a:prstGeom>
          <a:noFill/>
        </p:spPr>
        <p:txBody>
          <a:bodyPr wrap="square">
            <a:spAutoFit/>
          </a:bodyPr>
          <a:lstStyle/>
          <a:p>
            <a:pPr algn="l"/>
            <a:r>
              <a:rPr sz="1100" b="0" i="0">
                <a:solidFill>
                  <a:srgbClr val="1A232F"/>
                </a:solidFill>
                <a:latin typeface="Calibri"/>
              </a:rPr>
              <a:t>Verify key status shows: Enabled (Symmetric, SYMMETRIC_DEFAULT)</a:t>
            </a:r>
          </a:p>
        </p:txBody>
      </p:sp>
      <p:sp>
        <p:nvSpPr>
          <p:cNvPr id="26" name="Rectangle 25"/>
          <p:cNvSpPr/>
          <p:nvPr/>
        </p:nvSpPr>
        <p:spPr>
          <a:xfrm>
            <a:off x="5897880" y="1371600"/>
            <a:ext cx="6263640" cy="5166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897880" y="1371600"/>
            <a:ext cx="64008" cy="51663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kms_2.jpg"/>
          <p:cNvPicPr>
            <a:picLocks noChangeAspect="1"/>
          </p:cNvPicPr>
          <p:nvPr/>
        </p:nvPicPr>
        <p:blipFill>
          <a:blip r:embed="rId2"/>
          <a:stretch>
            <a:fillRect/>
          </a:stretch>
        </p:blipFill>
        <p:spPr>
          <a:xfrm>
            <a:off x="6035040" y="1508760"/>
            <a:ext cx="6035040" cy="4480560"/>
          </a:xfrm>
          <a:prstGeom prst="rect">
            <a:avLst/>
          </a:prstGeom>
        </p:spPr>
      </p:pic>
      <p:sp>
        <p:nvSpPr>
          <p:cNvPr id="29" name="TextBox 28"/>
          <p:cNvSpPr txBox="1"/>
          <p:nvPr/>
        </p:nvSpPr>
        <p:spPr>
          <a:xfrm>
            <a:off x="6035040" y="6035040"/>
            <a:ext cx="6035040" cy="365760"/>
          </a:xfrm>
          <a:prstGeom prst="rect">
            <a:avLst/>
          </a:prstGeom>
          <a:noFill/>
        </p:spPr>
        <p:txBody>
          <a:bodyPr wrap="square">
            <a:spAutoFit/>
          </a:bodyPr>
          <a:lstStyle/>
          <a:p>
            <a:pPr algn="l"/>
            <a:r>
              <a:rPr sz="1000" b="0" i="1">
                <a:solidFill>
                  <a:srgbClr val="6C757D"/>
                </a:solidFill>
                <a:latin typeface="Calibri"/>
              </a:rPr>
              <a:t>IAM Permissions, Key Policy &amp; Key Enabled Status</a:t>
            </a:r>
          </a:p>
        </p:txBody>
      </p:sp>
      <p:sp>
        <p:nvSpPr>
          <p:cNvPr id="30" name="Rectangle 29"/>
          <p:cNvSpPr/>
          <p:nvPr/>
        </p:nvSpPr>
        <p:spPr>
          <a:xfrm>
            <a:off x="0" y="6537960"/>
            <a:ext cx="12188952" cy="3200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65760" y="6556248"/>
            <a:ext cx="11430000" cy="261610"/>
          </a:xfrm>
          <a:prstGeom prst="rect">
            <a:avLst/>
          </a:prstGeom>
          <a:noFill/>
        </p:spPr>
        <p:txBody>
          <a:bodyPr wrap="square">
            <a:spAutoFit/>
          </a:bodyPr>
          <a:lstStyle/>
          <a:p>
            <a:pPr algn="ctr"/>
            <a:r>
              <a:rPr sz="1100" b="0" i="0" dirty="0">
                <a:solidFill>
                  <a:srgbClr val="6C757D"/>
                </a:solidFill>
                <a:latin typeface="Calibri"/>
              </a:rPr>
              <a:t>K. </a:t>
            </a:r>
            <a:r>
              <a:rPr sz="1100" b="0" i="0" dirty="0" err="1">
                <a:solidFill>
                  <a:srgbClr val="6C757D"/>
                </a:solidFill>
                <a:latin typeface="Calibri"/>
              </a:rPr>
              <a:t>Arunsai</a:t>
            </a:r>
            <a:r>
              <a:rPr sz="1100" b="0" i="0" dirty="0">
                <a:solidFill>
                  <a:srgbClr val="6C757D"/>
                </a:solidFill>
                <a:latin typeface="Calibri"/>
              </a:rPr>
              <a:t>  </a:t>
            </a:r>
            <a:r>
              <a:rPr sz="1100" b="0" i="0">
                <a:solidFill>
                  <a:srgbClr val="6C757D"/>
                </a:solidFill>
                <a:latin typeface="Calibri"/>
              </a:rPr>
              <a:t>|  DevOps</a:t>
            </a:r>
            <a:endParaRPr sz="1100" b="0" i="0" dirty="0">
              <a:solidFill>
                <a:srgbClr val="6C757D"/>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272</Words>
  <Application>Microsoft Office PowerPoint</Application>
  <PresentationFormat>Custom</PresentationFormat>
  <Paragraphs>53</Paragraphs>
  <Slides>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Arunsai</dc:creator>
  <cp:keywords/>
  <dc:description>generated using python-pptx</dc:description>
  <cp:lastModifiedBy>Arun sai</cp:lastModifiedBy>
  <cp:revision>2</cp:revision>
  <dcterms:created xsi:type="dcterms:W3CDTF">2013-01-27T09:14:16Z</dcterms:created>
  <dcterms:modified xsi:type="dcterms:W3CDTF">2026-05-11T18:08:31Z</dcterms:modified>
  <cp:category/>
</cp:coreProperties>
</file>
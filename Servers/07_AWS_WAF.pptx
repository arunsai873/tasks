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A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D4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943600"/>
            <a:ext cx="12188952" cy="914400"/>
          </a:xfrm>
          <a:prstGeom prst="rect">
            <a:avLst/>
          </a:prstGeom>
          <a:solidFill>
            <a:srgbClr val="0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libri"/>
              </a:rPr>
              <a:t>AWS WAF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D42E2E"/>
                </a:solidFill>
                <a:latin typeface="Calibri"/>
              </a:rPr>
              <a:t>Web Application Firewall — Layer 7 Protection Against SQL Injection, XSS &amp; DDoS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291840"/>
            <a:ext cx="9144000" cy="45720"/>
          </a:xfrm>
          <a:prstGeom prst="rect">
            <a:avLst/>
          </a:prstGeom>
          <a:solidFill>
            <a:srgbClr val="0073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3611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C757D"/>
                </a:solidFill>
                <a:latin typeface="Calibri"/>
              </a:rPr>
              <a:t>Presented by: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233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K. Arunsai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035040"/>
            <a:ext cx="9144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6C757D"/>
                </a:solidFill>
                <a:latin typeface="Calibri"/>
              </a:rPr>
              <a:t>DevOps  |  AWS Infrastructure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3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28600" y="201168"/>
            <a:ext cx="713232" cy="713232"/>
          </a:xfrm>
          <a:prstGeom prst="rect">
            <a:avLst/>
          </a:prstGeom>
          <a:solidFill>
            <a:srgbClr val="D4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201168"/>
            <a:ext cx="7132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73152"/>
            <a:ext cx="9144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AWS WAF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71323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CCDD"/>
                </a:solidFill>
                <a:latin typeface="Calibri"/>
              </a:rPr>
              <a:t>Web Application Firewall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5577840" cy="516636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371600"/>
            <a:ext cx="64008" cy="5166360"/>
          </a:xfrm>
          <a:prstGeom prst="rect">
            <a:avLst/>
          </a:prstGeom>
          <a:solidFill>
            <a:srgbClr val="D4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32A45"/>
                </a:solidFill>
                <a:latin typeface="Calibri"/>
              </a:rPr>
              <a:t>What is it?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65960"/>
            <a:ext cx="5212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2F"/>
                </a:solidFill>
                <a:latin typeface="Calibri"/>
              </a:rPr>
              <a:t>AWS WAF (Web Application Firewall) lets you monitor and control HTTP/HTTPS requests forwarded to your web applications. It protects against common web exploits like SQL injection, cross-site scripting (XSS), bot traffic, and DDoS attacks at Layer 7.
Integrated with an Application Load Balancer to protect an EC2-hosted Apache application using AWS managed security rules and real-time traffic monitoring.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20624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2E2E"/>
                </a:solidFill>
                <a:latin typeface="Calibri"/>
              </a:rPr>
              <a:t>Key Highlights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" y="4736592"/>
            <a:ext cx="128016" cy="128016"/>
          </a:xfrm>
          <a:prstGeom prst="rect">
            <a:avLst/>
          </a:prstGeom>
          <a:solidFill>
            <a:srgbClr val="D4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3232" y="466344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2F"/>
                </a:solidFill>
                <a:latin typeface="Calibri"/>
              </a:rPr>
              <a:t>Protects against SQLi, XSS, bot &amp; DDoS at Layer 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" y="5138928"/>
            <a:ext cx="128016" cy="128016"/>
          </a:xfrm>
          <a:prstGeom prst="rect">
            <a:avLst/>
          </a:prstGeom>
          <a:solidFill>
            <a:srgbClr val="D4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13232" y="5065776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2F"/>
                </a:solidFill>
                <a:latin typeface="Calibri"/>
              </a:rPr>
              <a:t>Integrates with ALB, CloudFront, API Gateway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488" y="5541264"/>
            <a:ext cx="128016" cy="128016"/>
          </a:xfrm>
          <a:prstGeom prst="rect">
            <a:avLst/>
          </a:prstGeom>
          <a:solidFill>
            <a:srgbClr val="D4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3232" y="546811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2F"/>
                </a:solidFill>
                <a:latin typeface="Calibri"/>
              </a:rPr>
              <a:t>AWS Managed Rules — zero config protection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8" y="5943600"/>
            <a:ext cx="128016" cy="128016"/>
          </a:xfrm>
          <a:prstGeom prst="rect">
            <a:avLst/>
          </a:prstGeom>
          <a:solidFill>
            <a:srgbClr val="D4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13232" y="5870448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2F"/>
                </a:solidFill>
                <a:latin typeface="Calibri"/>
              </a:rPr>
              <a:t>IP allowlist / blocklist &amp; geographic blocking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5488" y="6345936"/>
            <a:ext cx="128016" cy="128016"/>
          </a:xfrm>
          <a:prstGeom prst="rect">
            <a:avLst/>
          </a:prstGeom>
          <a:solidFill>
            <a:srgbClr val="D4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13232" y="6272784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2F"/>
                </a:solidFill>
                <a:latin typeface="Calibri"/>
              </a:rPr>
              <a:t>Real-time traffic dashboard &amp; sampled requests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5488" y="6748272"/>
            <a:ext cx="128016" cy="128016"/>
          </a:xfrm>
          <a:prstGeom prst="rect">
            <a:avLst/>
          </a:prstGeom>
          <a:solidFill>
            <a:srgbClr val="D4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3232" y="667512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2F"/>
                </a:solidFill>
                <a:latin typeface="Calibri"/>
              </a:rPr>
              <a:t>Web ACL with up to 10,000 WCUs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1371600"/>
            <a:ext cx="6062472" cy="5166360"/>
          </a:xfrm>
          <a:prstGeom prst="rect">
            <a:avLst/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126480" y="1371600"/>
            <a:ext cx="64008" cy="5166360"/>
          </a:xfrm>
          <a:prstGeom prst="rect">
            <a:avLst/>
          </a:prstGeom>
          <a:solidFill>
            <a:srgbClr val="D4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09360" y="146304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32A45"/>
                </a:solidFill>
                <a:latin typeface="Calibri"/>
              </a:rPr>
              <a:t>AWS Console Preview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3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65760" y="6556248"/>
            <a:ext cx="1143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6C757D"/>
                </a:solidFill>
                <a:latin typeface="Calibri"/>
              </a:rPr>
              <a:t>K. </a:t>
            </a:r>
            <a:r>
              <a:rPr sz="1100" b="0" i="0" dirty="0" err="1">
                <a:solidFill>
                  <a:srgbClr val="6C757D"/>
                </a:solidFill>
                <a:latin typeface="Calibri"/>
              </a:rPr>
              <a:t>Arunsai</a:t>
            </a:r>
            <a:r>
              <a:rPr sz="1100" b="0" i="0" dirty="0">
                <a:solidFill>
                  <a:srgbClr val="6C757D"/>
                </a:solidFill>
                <a:latin typeface="Calibri"/>
              </a:rPr>
              <a:t>  |  DevOps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835EF5EA-A4FE-0683-FCA1-C69BE22D283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241394" y="1463040"/>
            <a:ext cx="5947432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3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28600" y="201168"/>
            <a:ext cx="713232" cy="713232"/>
          </a:xfrm>
          <a:prstGeom prst="rect">
            <a:avLst/>
          </a:prstGeom>
          <a:solidFill>
            <a:srgbClr val="D4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201168"/>
            <a:ext cx="7132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73152"/>
            <a:ext cx="9144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AWS WAF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71323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CCDD"/>
                </a:solidFill>
                <a:latin typeface="Calibri"/>
              </a:rPr>
              <a:t>Web Application Firewall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11887200" cy="516636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371600"/>
            <a:ext cx="5394960" cy="5166360"/>
          </a:xfrm>
          <a:prstGeom prst="rect">
            <a:avLst/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" y="1371600"/>
            <a:ext cx="64008" cy="5166360"/>
          </a:xfrm>
          <a:prstGeom prst="rect">
            <a:avLst/>
          </a:prstGeom>
          <a:solidFill>
            <a:srgbClr val="D4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32A45"/>
                </a:solidFill>
                <a:latin typeface="Calibri"/>
              </a:rPr>
              <a:t>Steps 1–3: EC2 + Apache Web Server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965960"/>
            <a:ext cx="347472" cy="347472"/>
          </a:xfrm>
          <a:prstGeom prst="rect">
            <a:avLst/>
          </a:prstGeom>
          <a:solidFill>
            <a:srgbClr val="D4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5488" y="19659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19659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2F"/>
                </a:solidFill>
                <a:latin typeface="Calibri"/>
              </a:rPr>
              <a:t>Launch EC2 instance (t3.micro) — name it WAF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" y="2468880"/>
            <a:ext cx="347472" cy="347472"/>
          </a:xfrm>
          <a:prstGeom prst="rect">
            <a:avLst/>
          </a:prstGeom>
          <a:solidFill>
            <a:srgbClr val="D4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5488" y="246888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246888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2F"/>
                </a:solidFill>
                <a:latin typeface="Calibri"/>
              </a:rPr>
              <a:t>Connect to instance via EC2 Instance Connect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5488" y="2971800"/>
            <a:ext cx="347472" cy="347472"/>
          </a:xfrm>
          <a:prstGeom prst="rect">
            <a:avLst/>
          </a:prstGeom>
          <a:solidFill>
            <a:srgbClr val="D4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5488" y="297180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29718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2F"/>
                </a:solidFill>
                <a:latin typeface="Calibri"/>
              </a:rPr>
              <a:t>Install Apache: sudo dnf install httpd -y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5488" y="3474720"/>
            <a:ext cx="347472" cy="347472"/>
          </a:xfrm>
          <a:prstGeom prst="rect">
            <a:avLst/>
          </a:prstGeom>
          <a:solidFill>
            <a:srgbClr val="D4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5488" y="347472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347472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2F"/>
                </a:solidFill>
                <a:latin typeface="Calibri"/>
              </a:rPr>
              <a:t>Start &amp; enable Apache: sudo systemctl start httpd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5488" y="3977639"/>
            <a:ext cx="347472" cy="347472"/>
          </a:xfrm>
          <a:prstGeom prst="rect">
            <a:avLst/>
          </a:prstGeom>
          <a:solidFill>
            <a:srgbClr val="D4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5488" y="3977639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3977639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2F"/>
                </a:solidFill>
                <a:latin typeface="Calibri"/>
              </a:rPr>
              <a:t>Create demo page: echo 'WAF Demo Application Running' | sudo tee /var/www/html/index.html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5488" y="4480559"/>
            <a:ext cx="347472" cy="347472"/>
          </a:xfrm>
          <a:prstGeom prst="rect">
            <a:avLst/>
          </a:prstGeom>
          <a:solidFill>
            <a:srgbClr val="D4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75488" y="4480559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" y="4480559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2F"/>
                </a:solidFill>
                <a:latin typeface="Calibri"/>
              </a:rPr>
              <a:t>Verify in browser using EC2 public IP — page shows 'WAF Demo Application Running'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97880" y="1371600"/>
            <a:ext cx="6263640" cy="5166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897880" y="1371600"/>
            <a:ext cx="64008" cy="51663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waf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508760"/>
            <a:ext cx="6035040" cy="448056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035040" y="603504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C757D"/>
                </a:solidFill>
                <a:latin typeface="Calibri"/>
              </a:rPr>
              <a:t>EC2 Instance Running &amp; Apache Install Output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3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65760" y="6556248"/>
            <a:ext cx="1143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6C757D"/>
                </a:solidFill>
                <a:latin typeface="Calibri"/>
              </a:rPr>
              <a:t>K. </a:t>
            </a:r>
            <a:r>
              <a:rPr sz="1100" b="0" i="0" dirty="0" err="1">
                <a:solidFill>
                  <a:srgbClr val="6C757D"/>
                </a:solidFill>
                <a:latin typeface="Calibri"/>
              </a:rPr>
              <a:t>Arunsai</a:t>
            </a:r>
            <a:r>
              <a:rPr sz="1100" b="0" i="0" dirty="0">
                <a:solidFill>
                  <a:srgbClr val="6C757D"/>
                </a:solidFill>
                <a:latin typeface="Calibri"/>
              </a:rPr>
              <a:t>  |  DevOps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3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28600" y="201168"/>
            <a:ext cx="713232" cy="713232"/>
          </a:xfrm>
          <a:prstGeom prst="rect">
            <a:avLst/>
          </a:prstGeom>
          <a:solidFill>
            <a:srgbClr val="D4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201168"/>
            <a:ext cx="7132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73152"/>
            <a:ext cx="9144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AWS WAF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71323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CCDD"/>
                </a:solidFill>
                <a:latin typeface="Calibri"/>
              </a:rPr>
              <a:t>Web Application Firewall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11887200" cy="516636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371600"/>
            <a:ext cx="5394960" cy="5166360"/>
          </a:xfrm>
          <a:prstGeom prst="rect">
            <a:avLst/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" y="1371600"/>
            <a:ext cx="64008" cy="5166360"/>
          </a:xfrm>
          <a:prstGeom prst="rect">
            <a:avLst/>
          </a:prstGeom>
          <a:solidFill>
            <a:srgbClr val="D4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32A45"/>
                </a:solidFill>
                <a:latin typeface="Calibri"/>
              </a:rPr>
              <a:t>Steps 4–6: Create Application Load Balancer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965960"/>
            <a:ext cx="347472" cy="347472"/>
          </a:xfrm>
          <a:prstGeom prst="rect">
            <a:avLst/>
          </a:prstGeom>
          <a:solidFill>
            <a:srgbClr val="D4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5488" y="19659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19659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2F"/>
                </a:solidFill>
                <a:latin typeface="Calibri"/>
              </a:rPr>
              <a:t>Navigate to EC2 → Load Balancers → Create ALB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" y="2468880"/>
            <a:ext cx="347472" cy="347472"/>
          </a:xfrm>
          <a:prstGeom prst="rect">
            <a:avLst/>
          </a:prstGeom>
          <a:solidFill>
            <a:srgbClr val="D4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5488" y="246888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246888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2F"/>
                </a:solidFill>
                <a:latin typeface="Calibri"/>
              </a:rPr>
              <a:t>Name: WAF-ALB, Scheme: Internet-facing, IP type: IPv4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5488" y="2971800"/>
            <a:ext cx="347472" cy="347472"/>
          </a:xfrm>
          <a:prstGeom prst="rect">
            <a:avLst/>
          </a:prstGeom>
          <a:solidFill>
            <a:srgbClr val="D4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5488" y="297180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29718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2F"/>
                </a:solidFill>
                <a:latin typeface="Calibri"/>
              </a:rPr>
              <a:t>Configure Listener: HTTP on port 80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5488" y="3474720"/>
            <a:ext cx="347472" cy="347472"/>
          </a:xfrm>
          <a:prstGeom prst="rect">
            <a:avLst/>
          </a:prstGeom>
          <a:solidFill>
            <a:srgbClr val="D4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5488" y="347472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347472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2F"/>
                </a:solidFill>
                <a:latin typeface="Calibri"/>
              </a:rPr>
              <a:t>Set VPC and select both availability zone subnets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5488" y="3977639"/>
            <a:ext cx="347472" cy="347472"/>
          </a:xfrm>
          <a:prstGeom prst="rect">
            <a:avLst/>
          </a:prstGeom>
          <a:solidFill>
            <a:srgbClr val="D4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5488" y="3977639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3977639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2F"/>
                </a:solidFill>
                <a:latin typeface="Calibri"/>
              </a:rPr>
              <a:t>Attach default security group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5488" y="4480559"/>
            <a:ext cx="347472" cy="347472"/>
          </a:xfrm>
          <a:prstGeom prst="rect">
            <a:avLst/>
          </a:prstGeom>
          <a:solidFill>
            <a:srgbClr val="D4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75488" y="4480559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" y="4480559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2F"/>
                </a:solidFill>
                <a:latin typeface="Calibri"/>
              </a:rPr>
              <a:t>Create Target Group: WAF-TG, type=Instance, protocol HTTP:80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97880" y="1371600"/>
            <a:ext cx="6263640" cy="5166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897880" y="1371600"/>
            <a:ext cx="64008" cy="51663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waf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508760"/>
            <a:ext cx="6035040" cy="448056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035040" y="603504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C757D"/>
                </a:solidFill>
                <a:latin typeface="Calibri"/>
              </a:rPr>
              <a:t>ALB Creation — Basic Config, Listener &amp; Security Group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3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65760" y="6556248"/>
            <a:ext cx="1143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6C757D"/>
                </a:solidFill>
                <a:latin typeface="Calibri"/>
              </a:rPr>
              <a:t>K. </a:t>
            </a:r>
            <a:r>
              <a:rPr sz="1100" b="0" i="0" dirty="0" err="1">
                <a:solidFill>
                  <a:srgbClr val="6C757D"/>
                </a:solidFill>
                <a:latin typeface="Calibri"/>
              </a:rPr>
              <a:t>Arunsai</a:t>
            </a:r>
            <a:r>
              <a:rPr sz="1100" b="0" i="0" dirty="0">
                <a:solidFill>
                  <a:srgbClr val="6C757D"/>
                </a:solidFill>
                <a:latin typeface="Calibri"/>
              </a:rPr>
              <a:t>  |  DevOps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3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28600" y="201168"/>
            <a:ext cx="713232" cy="713232"/>
          </a:xfrm>
          <a:prstGeom prst="rect">
            <a:avLst/>
          </a:prstGeom>
          <a:solidFill>
            <a:srgbClr val="D4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201168"/>
            <a:ext cx="7132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73152"/>
            <a:ext cx="9144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AWS WAF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71323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CCDD"/>
                </a:solidFill>
                <a:latin typeface="Calibri"/>
              </a:rPr>
              <a:t>Web Application Firewall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11887200" cy="516636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371600"/>
            <a:ext cx="5394960" cy="5166360"/>
          </a:xfrm>
          <a:prstGeom prst="rect">
            <a:avLst/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" y="1371600"/>
            <a:ext cx="64008" cy="5166360"/>
          </a:xfrm>
          <a:prstGeom prst="rect">
            <a:avLst/>
          </a:prstGeom>
          <a:solidFill>
            <a:srgbClr val="D4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32A45"/>
                </a:solidFill>
                <a:latin typeface="Calibri"/>
              </a:rPr>
              <a:t>Steps 6–7: Finalize ALB &amp; Verify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965960"/>
            <a:ext cx="347472" cy="347472"/>
          </a:xfrm>
          <a:prstGeom prst="rect">
            <a:avLst/>
          </a:prstGeom>
          <a:solidFill>
            <a:srgbClr val="D4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5488" y="19659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19659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2F"/>
                </a:solidFill>
                <a:latin typeface="Calibri"/>
              </a:rPr>
              <a:t>Register EC2 instance in target group WAF-TG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" y="2468880"/>
            <a:ext cx="347472" cy="347472"/>
          </a:xfrm>
          <a:prstGeom prst="rect">
            <a:avLst/>
          </a:prstGeom>
          <a:solidFill>
            <a:srgbClr val="D4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5488" y="246888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246888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2F"/>
                </a:solidFill>
                <a:latin typeface="Calibri"/>
              </a:rPr>
              <a:t>Complete ALB creation — status: Provisioning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5488" y="2971800"/>
            <a:ext cx="347472" cy="347472"/>
          </a:xfrm>
          <a:prstGeom prst="rect">
            <a:avLst/>
          </a:prstGeom>
          <a:solidFill>
            <a:srgbClr val="D4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5488" y="297180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29718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2F"/>
                </a:solidFill>
                <a:latin typeface="Calibri"/>
              </a:rPr>
              <a:t>Wait for ALB status to change to: Active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5488" y="3474720"/>
            <a:ext cx="347472" cy="347472"/>
          </a:xfrm>
          <a:prstGeom prst="rect">
            <a:avLst/>
          </a:prstGeom>
          <a:solidFill>
            <a:srgbClr val="D4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5488" y="347472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347472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2F"/>
                </a:solidFill>
                <a:latin typeface="Calibri"/>
              </a:rPr>
              <a:t>Copy ALB DNS name from details panel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5488" y="3977639"/>
            <a:ext cx="347472" cy="347472"/>
          </a:xfrm>
          <a:prstGeom prst="rect">
            <a:avLst/>
          </a:prstGeom>
          <a:solidFill>
            <a:srgbClr val="D4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5488" y="3977639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3977639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2F"/>
                </a:solidFill>
                <a:latin typeface="Calibri"/>
              </a:rPr>
              <a:t>Open ALB DNS in browser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5488" y="4480559"/>
            <a:ext cx="347472" cy="347472"/>
          </a:xfrm>
          <a:prstGeom prst="rect">
            <a:avLst/>
          </a:prstGeom>
          <a:solidFill>
            <a:srgbClr val="D4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75488" y="4480559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" y="4480559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2F"/>
                </a:solidFill>
                <a:latin typeface="Calibri"/>
              </a:rPr>
              <a:t>Verify: 'WAF Demo Application Running' loads via ALB DNS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97880" y="1371600"/>
            <a:ext cx="6263640" cy="5166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897880" y="1371600"/>
            <a:ext cx="64008" cy="51663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waf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508760"/>
            <a:ext cx="6035040" cy="448056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035040" y="603504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C757D"/>
                </a:solidFill>
                <a:latin typeface="Calibri"/>
              </a:rPr>
              <a:t>ALB Successfully Created &amp; DNS Verified in Browser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3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65760" y="6556248"/>
            <a:ext cx="1143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6C757D"/>
                </a:solidFill>
                <a:latin typeface="Calibri"/>
              </a:rPr>
              <a:t>K. </a:t>
            </a:r>
            <a:r>
              <a:rPr sz="1100" b="0" i="0" dirty="0" err="1">
                <a:solidFill>
                  <a:srgbClr val="6C757D"/>
                </a:solidFill>
                <a:latin typeface="Calibri"/>
              </a:rPr>
              <a:t>Arunsai</a:t>
            </a:r>
            <a:r>
              <a:rPr sz="1100" b="0" i="0" dirty="0">
                <a:solidFill>
                  <a:srgbClr val="6C757D"/>
                </a:solidFill>
                <a:latin typeface="Calibri"/>
              </a:rPr>
              <a:t>  |  DevOps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3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28600" y="201168"/>
            <a:ext cx="713232" cy="713232"/>
          </a:xfrm>
          <a:prstGeom prst="rect">
            <a:avLst/>
          </a:prstGeom>
          <a:solidFill>
            <a:srgbClr val="D4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201168"/>
            <a:ext cx="7132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73152"/>
            <a:ext cx="9144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AWS WAF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71323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CCDD"/>
                </a:solidFill>
                <a:latin typeface="Calibri"/>
              </a:rPr>
              <a:t>Web Application Firewall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11887200" cy="516636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371600"/>
            <a:ext cx="5394960" cy="5166360"/>
          </a:xfrm>
          <a:prstGeom prst="rect">
            <a:avLst/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" y="1371600"/>
            <a:ext cx="64008" cy="5166360"/>
          </a:xfrm>
          <a:prstGeom prst="rect">
            <a:avLst/>
          </a:prstGeom>
          <a:solidFill>
            <a:srgbClr val="D4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32A45"/>
                </a:solidFill>
                <a:latin typeface="Calibri"/>
              </a:rPr>
              <a:t>Steps 8–9: Create Web ACL (WAF Protection)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965960"/>
            <a:ext cx="347472" cy="347472"/>
          </a:xfrm>
          <a:prstGeom prst="rect">
            <a:avLst/>
          </a:prstGeom>
          <a:solidFill>
            <a:srgbClr val="D4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5488" y="19659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19659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2F"/>
                </a:solidFill>
                <a:latin typeface="Calibri"/>
              </a:rPr>
              <a:t>Navigate to WAF &amp; Shield → Create protection pack (Web ACL)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" y="2468880"/>
            <a:ext cx="347472" cy="347472"/>
          </a:xfrm>
          <a:prstGeom prst="rect">
            <a:avLst/>
          </a:prstGeom>
          <a:solidFill>
            <a:srgbClr val="D4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5488" y="246888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246888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2F"/>
                </a:solidFill>
                <a:latin typeface="Calibri"/>
              </a:rPr>
              <a:t>App category: Enterprise &amp; Business, Focus: Both API and web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5488" y="2971800"/>
            <a:ext cx="347472" cy="347472"/>
          </a:xfrm>
          <a:prstGeom prst="rect">
            <a:avLst/>
          </a:prstGeom>
          <a:solidFill>
            <a:srgbClr val="D4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5488" y="297180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29718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2F"/>
                </a:solidFill>
                <a:latin typeface="Calibri"/>
              </a:rPr>
              <a:t>Select resource to protect: WAF-ALB (Application Load Balancer)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5488" y="3474720"/>
            <a:ext cx="347472" cy="347472"/>
          </a:xfrm>
          <a:prstGeom prst="rect">
            <a:avLst/>
          </a:prstGeom>
          <a:solidFill>
            <a:srgbClr val="D4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5488" y="347472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347472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2F"/>
                </a:solidFill>
                <a:latin typeface="Calibri"/>
              </a:rPr>
              <a:t>Choose initial protections: Essential Rules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5488" y="3977639"/>
            <a:ext cx="347472" cy="347472"/>
          </a:xfrm>
          <a:prstGeom prst="rect">
            <a:avLst/>
          </a:prstGeom>
          <a:solidFill>
            <a:srgbClr val="D4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5488" y="3977639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3977639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2F"/>
                </a:solidFill>
                <a:latin typeface="Calibri"/>
              </a:rPr>
              <a:t>Essential rules include: SQLi, XSS, IP blocklist, Layer 7 anti-DDoS, Geographic block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5488" y="4480559"/>
            <a:ext cx="347472" cy="347472"/>
          </a:xfrm>
          <a:prstGeom prst="rect">
            <a:avLst/>
          </a:prstGeom>
          <a:solidFill>
            <a:srgbClr val="D4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75488" y="4480559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" y="4480559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2F"/>
                </a:solidFill>
                <a:latin typeface="Calibri"/>
              </a:rPr>
              <a:t>Enter Web ACL name: WAF-ACL → Create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97880" y="1371600"/>
            <a:ext cx="6263640" cy="5166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897880" y="1371600"/>
            <a:ext cx="64008" cy="51663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waf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508760"/>
            <a:ext cx="6035040" cy="448056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035040" y="603504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C757D"/>
                </a:solidFill>
                <a:latin typeface="Calibri"/>
              </a:rPr>
              <a:t>Web ACL — App Category, Resource Selection &amp; Essential Rules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3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65760" y="6556248"/>
            <a:ext cx="1143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6C757D"/>
                </a:solidFill>
                <a:latin typeface="Calibri"/>
              </a:rPr>
              <a:t>K. </a:t>
            </a:r>
            <a:r>
              <a:rPr sz="1100" b="0" i="0" dirty="0" err="1">
                <a:solidFill>
                  <a:srgbClr val="6C757D"/>
                </a:solidFill>
                <a:latin typeface="Calibri"/>
              </a:rPr>
              <a:t>Arunsai</a:t>
            </a:r>
            <a:r>
              <a:rPr sz="1100" b="0" i="0" dirty="0">
                <a:solidFill>
                  <a:srgbClr val="6C757D"/>
                </a:solidFill>
                <a:latin typeface="Calibri"/>
              </a:rPr>
              <a:t>  |  DevOps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3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28600" y="201168"/>
            <a:ext cx="713232" cy="713232"/>
          </a:xfrm>
          <a:prstGeom prst="rect">
            <a:avLst/>
          </a:prstGeom>
          <a:solidFill>
            <a:srgbClr val="D4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201168"/>
            <a:ext cx="7132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73152"/>
            <a:ext cx="9144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AWS WAF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71323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CCDD"/>
                </a:solidFill>
                <a:latin typeface="Calibri"/>
              </a:rPr>
              <a:t>Web Application Firewall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11887200" cy="516636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371600"/>
            <a:ext cx="5394960" cy="5166360"/>
          </a:xfrm>
          <a:prstGeom prst="rect">
            <a:avLst/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" y="1371600"/>
            <a:ext cx="64008" cy="5166360"/>
          </a:xfrm>
          <a:prstGeom prst="rect">
            <a:avLst/>
          </a:prstGeom>
          <a:solidFill>
            <a:srgbClr val="D4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32A45"/>
                </a:solidFill>
                <a:latin typeface="Calibri"/>
              </a:rPr>
              <a:t>Steps 9–10: Verify ACL &amp; ALB Attachment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965960"/>
            <a:ext cx="347472" cy="347472"/>
          </a:xfrm>
          <a:prstGeom prst="rect">
            <a:avLst/>
          </a:prstGeom>
          <a:solidFill>
            <a:srgbClr val="D4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5488" y="19659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19659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2F"/>
                </a:solidFill>
                <a:latin typeface="Calibri"/>
              </a:rPr>
              <a:t>WAF-ACL created with 12 rules — status shown in console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" y="2468880"/>
            <a:ext cx="347472" cy="347472"/>
          </a:xfrm>
          <a:prstGeom prst="rect">
            <a:avLst/>
          </a:prstGeom>
          <a:solidFill>
            <a:srgbClr val="D4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5488" y="246888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246888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2F"/>
                </a:solidFill>
                <a:latin typeface="Calibri"/>
              </a:rPr>
              <a:t>Click WAF-ACL → Manage resources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5488" y="2971800"/>
            <a:ext cx="347472" cy="347472"/>
          </a:xfrm>
          <a:prstGeom prst="rect">
            <a:avLst/>
          </a:prstGeom>
          <a:solidFill>
            <a:srgbClr val="D4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5488" y="297180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29718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2F"/>
                </a:solidFill>
                <a:latin typeface="Calibri"/>
              </a:rPr>
              <a:t>Confirm WAF-ALB (Application Load Balancer) is attached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5488" y="3474720"/>
            <a:ext cx="347472" cy="347472"/>
          </a:xfrm>
          <a:prstGeom prst="rect">
            <a:avLst/>
          </a:prstGeom>
          <a:solidFill>
            <a:srgbClr val="D4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5488" y="347472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347472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2F"/>
                </a:solidFill>
                <a:latin typeface="Calibri"/>
              </a:rPr>
              <a:t>Resource-level DDoS protection is active under DDoS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5488" y="3977639"/>
            <a:ext cx="347472" cy="347472"/>
          </a:xfrm>
          <a:prstGeom prst="rect">
            <a:avLst/>
          </a:prstGeom>
          <a:solidFill>
            <a:srgbClr val="D4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5488" y="3977639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3977639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2F"/>
                </a:solidFill>
                <a:latin typeface="Calibri"/>
              </a:rPr>
              <a:t>Navigate back to ALB DNS in browser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5488" y="4480559"/>
            <a:ext cx="347472" cy="347472"/>
          </a:xfrm>
          <a:prstGeom prst="rect">
            <a:avLst/>
          </a:prstGeom>
          <a:solidFill>
            <a:srgbClr val="D4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75488" y="4480559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" y="4480559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2F"/>
                </a:solidFill>
                <a:latin typeface="Calibri"/>
              </a:rPr>
              <a:t>Verify ALB DNS still serves 'WAF Demo Application Running'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97880" y="1371600"/>
            <a:ext cx="6263640" cy="5166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897880" y="1371600"/>
            <a:ext cx="64008" cy="51663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waf_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508760"/>
            <a:ext cx="6035040" cy="448056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035040" y="603504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C757D"/>
                </a:solidFill>
                <a:latin typeface="Calibri"/>
              </a:rPr>
              <a:t>Web ACL Dashboard &amp; ALB Resource Attachment Confirmation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3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65760" y="6556248"/>
            <a:ext cx="1143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6C757D"/>
                </a:solidFill>
                <a:latin typeface="Calibri"/>
              </a:rPr>
              <a:t>K. </a:t>
            </a:r>
            <a:r>
              <a:rPr sz="1100" b="0" i="0" dirty="0" err="1">
                <a:solidFill>
                  <a:srgbClr val="6C757D"/>
                </a:solidFill>
                <a:latin typeface="Calibri"/>
              </a:rPr>
              <a:t>Arunsai</a:t>
            </a:r>
            <a:r>
              <a:rPr sz="1100" b="0" i="0" dirty="0">
                <a:solidFill>
                  <a:srgbClr val="6C757D"/>
                </a:solidFill>
                <a:latin typeface="Calibri"/>
              </a:rPr>
              <a:t>  |  DevOps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3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28600" y="201168"/>
            <a:ext cx="713232" cy="713232"/>
          </a:xfrm>
          <a:prstGeom prst="rect">
            <a:avLst/>
          </a:prstGeom>
          <a:solidFill>
            <a:srgbClr val="D4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201168"/>
            <a:ext cx="7132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73152"/>
            <a:ext cx="9144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AWS WAF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71323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CCDD"/>
                </a:solidFill>
                <a:latin typeface="Calibri"/>
              </a:rPr>
              <a:t>Web Application Firewall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11887200" cy="516636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371600"/>
            <a:ext cx="5394960" cy="5166360"/>
          </a:xfrm>
          <a:prstGeom prst="rect">
            <a:avLst/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" y="1371600"/>
            <a:ext cx="64008" cy="5166360"/>
          </a:xfrm>
          <a:prstGeom prst="rect">
            <a:avLst/>
          </a:prstGeom>
          <a:solidFill>
            <a:srgbClr val="D4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32A45"/>
                </a:solidFill>
                <a:latin typeface="Calibri"/>
              </a:rPr>
              <a:t>Steps 11–12: Test &amp; Verify WAF Blocking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965960"/>
            <a:ext cx="347472" cy="347472"/>
          </a:xfrm>
          <a:prstGeom prst="rect">
            <a:avLst/>
          </a:prstGeom>
          <a:solidFill>
            <a:srgbClr val="D4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5488" y="19659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19659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2F"/>
                </a:solidFill>
                <a:latin typeface="Calibri"/>
              </a:rPr>
              <a:t>Send a malicious SQL injection request via ALB URL: ?id=%27%20OR%201=1%20--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" y="2468880"/>
            <a:ext cx="347472" cy="347472"/>
          </a:xfrm>
          <a:prstGeom prst="rect">
            <a:avLst/>
          </a:prstGeom>
          <a:solidFill>
            <a:srgbClr val="D4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5488" y="246888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246888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2F"/>
                </a:solidFill>
                <a:latin typeface="Calibri"/>
              </a:rPr>
              <a:t>WAF blocks the request → browser returns: 403 Forbidden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5488" y="2971800"/>
            <a:ext cx="347472" cy="347472"/>
          </a:xfrm>
          <a:prstGeom prst="rect">
            <a:avLst/>
          </a:prstGeom>
          <a:solidFill>
            <a:srgbClr val="D4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5488" y="297180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29718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2F"/>
                </a:solidFill>
                <a:latin typeface="Calibri"/>
              </a:rPr>
              <a:t>SQL Injection and XSS protection confirmed working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5488" y="3474720"/>
            <a:ext cx="347472" cy="347472"/>
          </a:xfrm>
          <a:prstGeom prst="rect">
            <a:avLst/>
          </a:prstGeom>
          <a:solidFill>
            <a:srgbClr val="D4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5488" y="347472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347472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2F"/>
                </a:solidFill>
                <a:latin typeface="Calibri"/>
              </a:rPr>
              <a:t>Open WAF-ACL Dashboard → Overview tab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5488" y="3977639"/>
            <a:ext cx="347472" cy="347472"/>
          </a:xfrm>
          <a:prstGeom prst="rect">
            <a:avLst/>
          </a:prstGeom>
          <a:solidFill>
            <a:srgbClr val="D4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5488" y="3977639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3977639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2F"/>
                </a:solidFill>
                <a:latin typeface="Calibri"/>
              </a:rPr>
              <a:t>View traffic summary: Total=3, Allowed=1, Blocked=2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5488" y="4480559"/>
            <a:ext cx="347472" cy="347472"/>
          </a:xfrm>
          <a:prstGeom prst="rect">
            <a:avLst/>
          </a:prstGeom>
          <a:solidFill>
            <a:srgbClr val="D4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75488" y="4480559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" y="4480559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2F"/>
                </a:solidFill>
                <a:latin typeface="Calibri"/>
              </a:rPr>
              <a:t>Traffic flow chart shows AWSManagedRules blocking SQLi requests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97880" y="1371600"/>
            <a:ext cx="6263640" cy="5166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897880" y="1371600"/>
            <a:ext cx="64008" cy="51663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waf_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508760"/>
            <a:ext cx="6035040" cy="448056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035040" y="603504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C757D"/>
                </a:solidFill>
                <a:latin typeface="Calibri"/>
              </a:rPr>
              <a:t>403 Blocked Response &amp; WAF Dashboard Traffic Summary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3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65760" y="6556248"/>
            <a:ext cx="1143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6C757D"/>
                </a:solidFill>
                <a:latin typeface="Calibri"/>
              </a:rPr>
              <a:t>K. </a:t>
            </a:r>
            <a:r>
              <a:rPr sz="1100" b="0" i="0" dirty="0" err="1">
                <a:solidFill>
                  <a:srgbClr val="6C757D"/>
                </a:solidFill>
                <a:latin typeface="Calibri"/>
              </a:rPr>
              <a:t>Arunsai</a:t>
            </a:r>
            <a:r>
              <a:rPr sz="1100" b="0" i="0" dirty="0">
                <a:solidFill>
                  <a:srgbClr val="6C757D"/>
                </a:solidFill>
                <a:latin typeface="Calibri"/>
              </a:rPr>
              <a:t>  |  DevOps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720</Words>
  <Application>Microsoft Office PowerPoint</Application>
  <PresentationFormat>Custom</PresentationFormat>
  <Paragraphs>127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Arunsai</dc:creator>
  <cp:keywords/>
  <dc:description>generated using python-pptx</dc:description>
  <cp:lastModifiedBy>Arun sai</cp:lastModifiedBy>
  <cp:revision>2</cp:revision>
  <dcterms:created xsi:type="dcterms:W3CDTF">2013-01-27T09:14:16Z</dcterms:created>
  <dcterms:modified xsi:type="dcterms:W3CDTF">2026-05-11T18:25:18Z</dcterms:modified>
  <cp:category/>
</cp:coreProperties>
</file>
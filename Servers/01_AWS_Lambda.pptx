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sldSz cx="12188825"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81" d="100"/>
          <a:sy n="81" d="100"/>
        </p:scale>
        <p:origin x="725" y="43"/>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5/11/2026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5/11/2026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5/11/2026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5/11/2026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5/11/2026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5/11/2026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5/11/2026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3.jp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32A45"/>
        </a:solidFill>
        <a:effectLst/>
      </p:bgPr>
    </p:bg>
    <p:spTree>
      <p:nvGrpSpPr>
        <p:cNvPr id="1" name=""/>
        <p:cNvGrpSpPr/>
        <p:nvPr/>
      </p:nvGrpSpPr>
      <p:grpSpPr>
        <a:xfrm>
          <a:off x="0" y="0"/>
          <a:ext cx="0" cy="0"/>
          <a:chOff x="0" y="0"/>
          <a:chExt cx="0" cy="0"/>
        </a:xfrm>
      </p:grpSpPr>
      <p:sp>
        <p:nvSpPr>
          <p:cNvPr id="2" name="Rectangle 1"/>
          <p:cNvSpPr/>
          <p:nvPr/>
        </p:nvSpPr>
        <p:spPr>
          <a:xfrm>
            <a:off x="0" y="0"/>
            <a:ext cx="365760" cy="6858000"/>
          </a:xfrm>
          <a:prstGeom prst="rect">
            <a:avLst/>
          </a:prstGeom>
          <a:solidFill>
            <a:srgbClr val="FF9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5943600"/>
            <a:ext cx="12188952" cy="914400"/>
          </a:xfrm>
          <a:prstGeom prst="rect">
            <a:avLst/>
          </a:prstGeom>
          <a:solidFill>
            <a:srgbClr val="0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40080" y="1463040"/>
            <a:ext cx="10972800" cy="1005840"/>
          </a:xfrm>
          <a:prstGeom prst="rect">
            <a:avLst/>
          </a:prstGeom>
          <a:noFill/>
        </p:spPr>
        <p:txBody>
          <a:bodyPr wrap="square">
            <a:spAutoFit/>
          </a:bodyPr>
          <a:lstStyle/>
          <a:p>
            <a:pPr algn="l"/>
            <a:r>
              <a:rPr sz="5200" b="1" i="0">
                <a:solidFill>
                  <a:srgbClr val="FFFFFF"/>
                </a:solidFill>
                <a:latin typeface="Calibri"/>
              </a:rPr>
              <a:t>AWS Lambda</a:t>
            </a:r>
          </a:p>
        </p:txBody>
      </p:sp>
      <p:sp>
        <p:nvSpPr>
          <p:cNvPr id="5" name="TextBox 4"/>
          <p:cNvSpPr txBox="1"/>
          <p:nvPr/>
        </p:nvSpPr>
        <p:spPr>
          <a:xfrm>
            <a:off x="640080" y="2606040"/>
            <a:ext cx="10972800" cy="548640"/>
          </a:xfrm>
          <a:prstGeom prst="rect">
            <a:avLst/>
          </a:prstGeom>
          <a:noFill/>
        </p:spPr>
        <p:txBody>
          <a:bodyPr wrap="square">
            <a:spAutoFit/>
          </a:bodyPr>
          <a:lstStyle/>
          <a:p>
            <a:pPr algn="l"/>
            <a:r>
              <a:rPr sz="2000" b="0" i="0">
                <a:solidFill>
                  <a:srgbClr val="FF9900"/>
                </a:solidFill>
                <a:latin typeface="Calibri"/>
              </a:rPr>
              <a:t>Serverless Compute — Run Code Without Managing Servers</a:t>
            </a:r>
          </a:p>
        </p:txBody>
      </p:sp>
      <p:sp>
        <p:nvSpPr>
          <p:cNvPr id="6" name="Rectangle 5"/>
          <p:cNvSpPr/>
          <p:nvPr/>
        </p:nvSpPr>
        <p:spPr>
          <a:xfrm>
            <a:off x="640080" y="3291840"/>
            <a:ext cx="9144000" cy="45720"/>
          </a:xfrm>
          <a:prstGeom prst="rect">
            <a:avLst/>
          </a:prstGeom>
          <a:solidFill>
            <a:srgbClr val="0073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40080" y="3611880"/>
            <a:ext cx="3657600" cy="365760"/>
          </a:xfrm>
          <a:prstGeom prst="rect">
            <a:avLst/>
          </a:prstGeom>
          <a:noFill/>
        </p:spPr>
        <p:txBody>
          <a:bodyPr wrap="square">
            <a:spAutoFit/>
          </a:bodyPr>
          <a:lstStyle/>
          <a:p>
            <a:pPr algn="l"/>
            <a:r>
              <a:rPr sz="1300" b="0" i="0">
                <a:solidFill>
                  <a:srgbClr val="6C757D"/>
                </a:solidFill>
                <a:latin typeface="Calibri"/>
              </a:rPr>
              <a:t>Presented by:</a:t>
            </a:r>
          </a:p>
        </p:txBody>
      </p:sp>
      <p:sp>
        <p:nvSpPr>
          <p:cNvPr id="8" name="TextBox 7"/>
          <p:cNvSpPr txBox="1"/>
          <p:nvPr/>
        </p:nvSpPr>
        <p:spPr>
          <a:xfrm>
            <a:off x="640080" y="4023360"/>
            <a:ext cx="5486400" cy="640080"/>
          </a:xfrm>
          <a:prstGeom prst="rect">
            <a:avLst/>
          </a:prstGeom>
          <a:noFill/>
        </p:spPr>
        <p:txBody>
          <a:bodyPr wrap="square">
            <a:spAutoFit/>
          </a:bodyPr>
          <a:lstStyle/>
          <a:p>
            <a:pPr algn="l"/>
            <a:r>
              <a:rPr sz="3000" b="1" i="0">
                <a:solidFill>
                  <a:srgbClr val="FFFFFF"/>
                </a:solidFill>
                <a:latin typeface="Calibri"/>
              </a:rPr>
              <a:t>K. Arunsai</a:t>
            </a:r>
          </a:p>
        </p:txBody>
      </p:sp>
      <p:sp>
        <p:nvSpPr>
          <p:cNvPr id="9" name="TextBox 8"/>
          <p:cNvSpPr txBox="1"/>
          <p:nvPr/>
        </p:nvSpPr>
        <p:spPr>
          <a:xfrm>
            <a:off x="640080" y="6035040"/>
            <a:ext cx="9144000" cy="276999"/>
          </a:xfrm>
          <a:prstGeom prst="rect">
            <a:avLst/>
          </a:prstGeom>
          <a:noFill/>
        </p:spPr>
        <p:txBody>
          <a:bodyPr wrap="square">
            <a:spAutoFit/>
          </a:bodyPr>
          <a:lstStyle/>
          <a:p>
            <a:pPr algn="l"/>
            <a:r>
              <a:rPr sz="1200" b="0" i="0" dirty="0">
                <a:solidFill>
                  <a:srgbClr val="6C757D"/>
                </a:solidFill>
                <a:latin typeface="Calibri"/>
              </a:rPr>
              <a:t>DevOps  |  AWS Infrastructure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1234440"/>
          </a:xfrm>
          <a:prstGeom prst="rect">
            <a:avLst/>
          </a:prstGeom>
          <a:solidFill>
            <a:srgbClr val="13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228600" y="201168"/>
            <a:ext cx="713232" cy="713232"/>
          </a:xfrm>
          <a:prstGeom prst="rect">
            <a:avLst/>
          </a:prstGeom>
          <a:solidFill>
            <a:srgbClr val="FF9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28600" y="201168"/>
            <a:ext cx="713232" cy="713232"/>
          </a:xfrm>
          <a:prstGeom prst="rect">
            <a:avLst/>
          </a:prstGeom>
          <a:noFill/>
        </p:spPr>
        <p:txBody>
          <a:bodyPr wrap="square">
            <a:spAutoFit/>
          </a:bodyPr>
          <a:lstStyle/>
          <a:p>
            <a:pPr algn="ctr"/>
            <a:r>
              <a:rPr sz="1800" b="1" i="0">
                <a:solidFill>
                  <a:srgbClr val="FFFFFF"/>
                </a:solidFill>
                <a:latin typeface="Calibri"/>
              </a:rPr>
              <a:t>01</a:t>
            </a:r>
          </a:p>
        </p:txBody>
      </p:sp>
      <p:sp>
        <p:nvSpPr>
          <p:cNvPr id="5" name="TextBox 4"/>
          <p:cNvSpPr txBox="1"/>
          <p:nvPr/>
        </p:nvSpPr>
        <p:spPr>
          <a:xfrm>
            <a:off x="1097280" y="73152"/>
            <a:ext cx="9144000" cy="621792"/>
          </a:xfrm>
          <a:prstGeom prst="rect">
            <a:avLst/>
          </a:prstGeom>
          <a:noFill/>
        </p:spPr>
        <p:txBody>
          <a:bodyPr wrap="square">
            <a:spAutoFit/>
          </a:bodyPr>
          <a:lstStyle/>
          <a:p>
            <a:pPr algn="l"/>
            <a:r>
              <a:rPr sz="2800" b="1" i="0">
                <a:solidFill>
                  <a:srgbClr val="FFFFFF"/>
                </a:solidFill>
                <a:latin typeface="Calibri"/>
              </a:rPr>
              <a:t>AWS Lambda</a:t>
            </a:r>
          </a:p>
        </p:txBody>
      </p:sp>
      <p:sp>
        <p:nvSpPr>
          <p:cNvPr id="6" name="TextBox 5"/>
          <p:cNvSpPr txBox="1"/>
          <p:nvPr/>
        </p:nvSpPr>
        <p:spPr>
          <a:xfrm>
            <a:off x="1097280" y="713232"/>
            <a:ext cx="9144000" cy="411480"/>
          </a:xfrm>
          <a:prstGeom prst="rect">
            <a:avLst/>
          </a:prstGeom>
          <a:noFill/>
        </p:spPr>
        <p:txBody>
          <a:bodyPr wrap="square">
            <a:spAutoFit/>
          </a:bodyPr>
          <a:lstStyle/>
          <a:p>
            <a:pPr algn="l"/>
            <a:r>
              <a:rPr sz="1300" b="0" i="0">
                <a:solidFill>
                  <a:srgbClr val="BBCCDD"/>
                </a:solidFill>
                <a:latin typeface="Calibri"/>
              </a:rPr>
              <a:t>Serverless Compute Service</a:t>
            </a:r>
          </a:p>
        </p:txBody>
      </p:sp>
      <p:sp>
        <p:nvSpPr>
          <p:cNvPr id="7" name="Rectangle 6"/>
          <p:cNvSpPr/>
          <p:nvPr/>
        </p:nvSpPr>
        <p:spPr>
          <a:xfrm>
            <a:off x="274320" y="1371600"/>
            <a:ext cx="5577840" cy="5166360"/>
          </a:xfrm>
          <a:prstGeom prst="rect">
            <a:avLst/>
          </a:prstGeom>
          <a:solidFill>
            <a:srgbClr val="F4F6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274320" y="1371600"/>
            <a:ext cx="64008" cy="5166360"/>
          </a:xfrm>
          <a:prstGeom prst="rect">
            <a:avLst/>
          </a:prstGeom>
          <a:solidFill>
            <a:srgbClr val="FF9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57200" y="1463040"/>
            <a:ext cx="5212080" cy="411480"/>
          </a:xfrm>
          <a:prstGeom prst="rect">
            <a:avLst/>
          </a:prstGeom>
          <a:noFill/>
        </p:spPr>
        <p:txBody>
          <a:bodyPr wrap="square">
            <a:spAutoFit/>
          </a:bodyPr>
          <a:lstStyle/>
          <a:p>
            <a:pPr algn="l"/>
            <a:r>
              <a:rPr sz="1500" b="1" i="0">
                <a:solidFill>
                  <a:srgbClr val="132A45"/>
                </a:solidFill>
                <a:latin typeface="Calibri"/>
              </a:rPr>
              <a:t>What is it?</a:t>
            </a:r>
          </a:p>
        </p:txBody>
      </p:sp>
      <p:sp>
        <p:nvSpPr>
          <p:cNvPr id="10" name="TextBox 9"/>
          <p:cNvSpPr txBox="1"/>
          <p:nvPr/>
        </p:nvSpPr>
        <p:spPr>
          <a:xfrm>
            <a:off x="457200" y="1965960"/>
            <a:ext cx="5212080" cy="892552"/>
          </a:xfrm>
          <a:prstGeom prst="rect">
            <a:avLst/>
          </a:prstGeom>
          <a:noFill/>
        </p:spPr>
        <p:txBody>
          <a:bodyPr wrap="square">
            <a:spAutoFit/>
          </a:bodyPr>
          <a:lstStyle/>
          <a:p>
            <a:pPr algn="l"/>
            <a:r>
              <a:rPr sz="1300" b="0" i="0">
                <a:solidFill>
                  <a:srgbClr val="1A232F"/>
                </a:solidFill>
                <a:latin typeface="Calibri"/>
              </a:rPr>
              <a:t>AWS Lambda is a serverless compute service that lets you run code without provisioning or managing servers. You upload your code and Lambda handles everything required to run and scale it with high availability. You pay only for the compute time you consume.</a:t>
            </a:r>
          </a:p>
        </p:txBody>
      </p:sp>
      <p:sp>
        <p:nvSpPr>
          <p:cNvPr id="11" name="TextBox 10"/>
          <p:cNvSpPr txBox="1"/>
          <p:nvPr/>
        </p:nvSpPr>
        <p:spPr>
          <a:xfrm>
            <a:off x="457200" y="4206240"/>
            <a:ext cx="5212080" cy="384048"/>
          </a:xfrm>
          <a:prstGeom prst="rect">
            <a:avLst/>
          </a:prstGeom>
          <a:noFill/>
        </p:spPr>
        <p:txBody>
          <a:bodyPr wrap="square">
            <a:spAutoFit/>
          </a:bodyPr>
          <a:lstStyle/>
          <a:p>
            <a:pPr algn="l"/>
            <a:r>
              <a:rPr sz="1300" b="1" i="0">
                <a:solidFill>
                  <a:srgbClr val="FF9900"/>
                </a:solidFill>
                <a:latin typeface="Calibri"/>
              </a:rPr>
              <a:t>Key Highlights</a:t>
            </a:r>
          </a:p>
        </p:txBody>
      </p:sp>
      <p:sp>
        <p:nvSpPr>
          <p:cNvPr id="12" name="Rectangle 11"/>
          <p:cNvSpPr/>
          <p:nvPr/>
        </p:nvSpPr>
        <p:spPr>
          <a:xfrm>
            <a:off x="475488" y="4736592"/>
            <a:ext cx="128016" cy="128016"/>
          </a:xfrm>
          <a:prstGeom prst="rect">
            <a:avLst/>
          </a:prstGeom>
          <a:solidFill>
            <a:srgbClr val="FF9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13232" y="4663440"/>
            <a:ext cx="5029200" cy="384048"/>
          </a:xfrm>
          <a:prstGeom prst="rect">
            <a:avLst/>
          </a:prstGeom>
          <a:noFill/>
        </p:spPr>
        <p:txBody>
          <a:bodyPr wrap="square">
            <a:spAutoFit/>
          </a:bodyPr>
          <a:lstStyle/>
          <a:p>
            <a:pPr algn="l"/>
            <a:r>
              <a:rPr sz="1200" b="0" i="0">
                <a:solidFill>
                  <a:srgbClr val="1A232F"/>
                </a:solidFill>
                <a:latin typeface="Calibri"/>
              </a:rPr>
              <a:t>No server provisioning or management</a:t>
            </a:r>
          </a:p>
        </p:txBody>
      </p:sp>
      <p:sp>
        <p:nvSpPr>
          <p:cNvPr id="14" name="Rectangle 13"/>
          <p:cNvSpPr/>
          <p:nvPr/>
        </p:nvSpPr>
        <p:spPr>
          <a:xfrm>
            <a:off x="475488" y="5138928"/>
            <a:ext cx="128016" cy="128016"/>
          </a:xfrm>
          <a:prstGeom prst="rect">
            <a:avLst/>
          </a:prstGeom>
          <a:solidFill>
            <a:srgbClr val="FF9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13232" y="5065776"/>
            <a:ext cx="5029200" cy="384048"/>
          </a:xfrm>
          <a:prstGeom prst="rect">
            <a:avLst/>
          </a:prstGeom>
          <a:noFill/>
        </p:spPr>
        <p:txBody>
          <a:bodyPr wrap="square">
            <a:spAutoFit/>
          </a:bodyPr>
          <a:lstStyle/>
          <a:p>
            <a:pPr algn="l"/>
            <a:r>
              <a:rPr sz="1200" b="0" i="0">
                <a:solidFill>
                  <a:srgbClr val="1A232F"/>
                </a:solidFill>
                <a:latin typeface="Calibri"/>
              </a:rPr>
              <a:t>Auto-scales from a few requests to thousands/sec</a:t>
            </a:r>
          </a:p>
        </p:txBody>
      </p:sp>
      <p:sp>
        <p:nvSpPr>
          <p:cNvPr id="16" name="Rectangle 15"/>
          <p:cNvSpPr/>
          <p:nvPr/>
        </p:nvSpPr>
        <p:spPr>
          <a:xfrm>
            <a:off x="475488" y="5541264"/>
            <a:ext cx="128016" cy="128016"/>
          </a:xfrm>
          <a:prstGeom prst="rect">
            <a:avLst/>
          </a:prstGeom>
          <a:solidFill>
            <a:srgbClr val="FF9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13232" y="5468112"/>
            <a:ext cx="5029200" cy="384048"/>
          </a:xfrm>
          <a:prstGeom prst="rect">
            <a:avLst/>
          </a:prstGeom>
          <a:noFill/>
        </p:spPr>
        <p:txBody>
          <a:bodyPr wrap="square">
            <a:spAutoFit/>
          </a:bodyPr>
          <a:lstStyle/>
          <a:p>
            <a:pPr algn="l"/>
            <a:r>
              <a:rPr sz="1200" b="0" i="0">
                <a:solidFill>
                  <a:srgbClr val="1A232F"/>
                </a:solidFill>
                <a:latin typeface="Calibri"/>
              </a:rPr>
              <a:t>Supports Python, Node.js, Java, Ruby &amp; more</a:t>
            </a:r>
          </a:p>
        </p:txBody>
      </p:sp>
      <p:sp>
        <p:nvSpPr>
          <p:cNvPr id="18" name="Rectangle 17"/>
          <p:cNvSpPr/>
          <p:nvPr/>
        </p:nvSpPr>
        <p:spPr>
          <a:xfrm>
            <a:off x="475488" y="5943600"/>
            <a:ext cx="128016" cy="128016"/>
          </a:xfrm>
          <a:prstGeom prst="rect">
            <a:avLst/>
          </a:prstGeom>
          <a:solidFill>
            <a:srgbClr val="FF9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713232" y="5870448"/>
            <a:ext cx="5029200" cy="384048"/>
          </a:xfrm>
          <a:prstGeom prst="rect">
            <a:avLst/>
          </a:prstGeom>
          <a:noFill/>
        </p:spPr>
        <p:txBody>
          <a:bodyPr wrap="square">
            <a:spAutoFit/>
          </a:bodyPr>
          <a:lstStyle/>
          <a:p>
            <a:pPr algn="l"/>
            <a:r>
              <a:rPr sz="1200" b="0" i="0">
                <a:solidFill>
                  <a:srgbClr val="1A232F"/>
                </a:solidFill>
                <a:latin typeface="Calibri"/>
              </a:rPr>
              <a:t>Event-driven: triggers from S3, SQS, API Gateway</a:t>
            </a:r>
          </a:p>
        </p:txBody>
      </p:sp>
      <p:sp>
        <p:nvSpPr>
          <p:cNvPr id="20" name="Rectangle 19"/>
          <p:cNvSpPr/>
          <p:nvPr/>
        </p:nvSpPr>
        <p:spPr>
          <a:xfrm>
            <a:off x="475488" y="6345936"/>
            <a:ext cx="128016" cy="128016"/>
          </a:xfrm>
          <a:prstGeom prst="rect">
            <a:avLst/>
          </a:prstGeom>
          <a:solidFill>
            <a:srgbClr val="FF9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713232" y="6272784"/>
            <a:ext cx="5029200" cy="384048"/>
          </a:xfrm>
          <a:prstGeom prst="rect">
            <a:avLst/>
          </a:prstGeom>
          <a:noFill/>
        </p:spPr>
        <p:txBody>
          <a:bodyPr wrap="square">
            <a:spAutoFit/>
          </a:bodyPr>
          <a:lstStyle/>
          <a:p>
            <a:pPr algn="l"/>
            <a:r>
              <a:rPr sz="1200" b="0" i="0">
                <a:solidFill>
                  <a:srgbClr val="1A232F"/>
                </a:solidFill>
                <a:latin typeface="Calibri"/>
              </a:rPr>
              <a:t>Integrated CloudWatch monitoring &amp; logging</a:t>
            </a:r>
          </a:p>
        </p:txBody>
      </p:sp>
      <p:sp>
        <p:nvSpPr>
          <p:cNvPr id="22" name="Rectangle 21"/>
          <p:cNvSpPr/>
          <p:nvPr/>
        </p:nvSpPr>
        <p:spPr>
          <a:xfrm>
            <a:off x="475488" y="6748272"/>
            <a:ext cx="128016" cy="128016"/>
          </a:xfrm>
          <a:prstGeom prst="rect">
            <a:avLst/>
          </a:prstGeom>
          <a:solidFill>
            <a:srgbClr val="FF9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713232" y="6675120"/>
            <a:ext cx="5029200" cy="384048"/>
          </a:xfrm>
          <a:prstGeom prst="rect">
            <a:avLst/>
          </a:prstGeom>
          <a:noFill/>
        </p:spPr>
        <p:txBody>
          <a:bodyPr wrap="square">
            <a:spAutoFit/>
          </a:bodyPr>
          <a:lstStyle/>
          <a:p>
            <a:pPr algn="l"/>
            <a:r>
              <a:rPr sz="1200" b="0" i="0">
                <a:solidFill>
                  <a:srgbClr val="1A232F"/>
                </a:solidFill>
                <a:latin typeface="Calibri"/>
              </a:rPr>
              <a:t>Max 15 min execution, 10 GB memory</a:t>
            </a:r>
          </a:p>
        </p:txBody>
      </p:sp>
      <p:sp>
        <p:nvSpPr>
          <p:cNvPr id="24" name="Rectangle 23"/>
          <p:cNvSpPr/>
          <p:nvPr/>
        </p:nvSpPr>
        <p:spPr>
          <a:xfrm>
            <a:off x="6126480" y="1371600"/>
            <a:ext cx="5760720" cy="5166360"/>
          </a:xfrm>
          <a:prstGeom prst="rect">
            <a:avLst/>
          </a:prstGeom>
          <a:solidFill>
            <a:srgbClr val="EE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6126480" y="1371600"/>
            <a:ext cx="64008" cy="5166360"/>
          </a:xfrm>
          <a:prstGeom prst="rect">
            <a:avLst/>
          </a:prstGeom>
          <a:solidFill>
            <a:srgbClr val="FF9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309360" y="1463040"/>
            <a:ext cx="5394960" cy="411480"/>
          </a:xfrm>
          <a:prstGeom prst="rect">
            <a:avLst/>
          </a:prstGeom>
          <a:noFill/>
        </p:spPr>
        <p:txBody>
          <a:bodyPr wrap="square">
            <a:spAutoFit/>
          </a:bodyPr>
          <a:lstStyle/>
          <a:p>
            <a:pPr algn="l"/>
            <a:r>
              <a:rPr sz="1300" b="1" i="0">
                <a:solidFill>
                  <a:srgbClr val="132A45"/>
                </a:solidFill>
                <a:latin typeface="Calibri"/>
              </a:rPr>
              <a:t>AWS Console Preview</a:t>
            </a:r>
          </a:p>
        </p:txBody>
      </p:sp>
      <p:sp>
        <p:nvSpPr>
          <p:cNvPr id="27" name="Rectangle 26"/>
          <p:cNvSpPr/>
          <p:nvPr/>
        </p:nvSpPr>
        <p:spPr>
          <a:xfrm>
            <a:off x="0" y="6537960"/>
            <a:ext cx="12188952" cy="320040"/>
          </a:xfrm>
          <a:prstGeom prst="rect">
            <a:avLst/>
          </a:prstGeom>
          <a:solidFill>
            <a:srgbClr val="13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365760" y="6556248"/>
            <a:ext cx="11430000" cy="261610"/>
          </a:xfrm>
          <a:prstGeom prst="rect">
            <a:avLst/>
          </a:prstGeom>
          <a:noFill/>
        </p:spPr>
        <p:txBody>
          <a:bodyPr wrap="square">
            <a:spAutoFit/>
          </a:bodyPr>
          <a:lstStyle/>
          <a:p>
            <a:pPr algn="ctr"/>
            <a:r>
              <a:rPr sz="1100" b="0" i="0" dirty="0">
                <a:solidFill>
                  <a:srgbClr val="6C757D"/>
                </a:solidFill>
                <a:latin typeface="Calibri"/>
              </a:rPr>
              <a:t>K. </a:t>
            </a:r>
            <a:r>
              <a:rPr sz="1100" b="0" i="0" dirty="0" err="1">
                <a:solidFill>
                  <a:srgbClr val="6C757D"/>
                </a:solidFill>
                <a:latin typeface="Calibri"/>
              </a:rPr>
              <a:t>Arunsai</a:t>
            </a:r>
            <a:r>
              <a:rPr sz="1100" b="0" i="0" dirty="0">
                <a:solidFill>
                  <a:srgbClr val="6C757D"/>
                </a:solidFill>
                <a:latin typeface="Calibri"/>
              </a:rPr>
              <a:t>  |  DevOps </a:t>
            </a:r>
          </a:p>
        </p:txBody>
      </p:sp>
      <p:pic>
        <p:nvPicPr>
          <p:cNvPr id="30" name="Picture 29">
            <a:extLst>
              <a:ext uri="{FF2B5EF4-FFF2-40B4-BE49-F238E27FC236}">
                <a16:creationId xmlns:a16="http://schemas.microsoft.com/office/drawing/2014/main" id="{C25F3092-DFEA-4242-9445-CB95059C1159}"/>
              </a:ext>
            </a:extLst>
          </p:cNvPr>
          <p:cNvPicPr/>
          <p:nvPr/>
        </p:nvPicPr>
        <p:blipFill>
          <a:blip r:embed="rId2"/>
          <a:stretch>
            <a:fillRect/>
          </a:stretch>
        </p:blipFill>
        <p:spPr>
          <a:xfrm>
            <a:off x="6309360" y="2157984"/>
            <a:ext cx="5486400" cy="2403796"/>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1234440"/>
          </a:xfrm>
          <a:prstGeom prst="rect">
            <a:avLst/>
          </a:prstGeom>
          <a:solidFill>
            <a:srgbClr val="13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228600" y="201168"/>
            <a:ext cx="713232" cy="713232"/>
          </a:xfrm>
          <a:prstGeom prst="rect">
            <a:avLst/>
          </a:prstGeom>
          <a:solidFill>
            <a:srgbClr val="FF9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28600" y="201168"/>
            <a:ext cx="713232" cy="713232"/>
          </a:xfrm>
          <a:prstGeom prst="rect">
            <a:avLst/>
          </a:prstGeom>
          <a:noFill/>
        </p:spPr>
        <p:txBody>
          <a:bodyPr wrap="square">
            <a:spAutoFit/>
          </a:bodyPr>
          <a:lstStyle/>
          <a:p>
            <a:pPr algn="ctr"/>
            <a:r>
              <a:rPr sz="1800" b="1" i="0">
                <a:solidFill>
                  <a:srgbClr val="FFFFFF"/>
                </a:solidFill>
                <a:latin typeface="Calibri"/>
              </a:rPr>
              <a:t>01</a:t>
            </a:r>
          </a:p>
        </p:txBody>
      </p:sp>
      <p:sp>
        <p:nvSpPr>
          <p:cNvPr id="5" name="TextBox 4"/>
          <p:cNvSpPr txBox="1"/>
          <p:nvPr/>
        </p:nvSpPr>
        <p:spPr>
          <a:xfrm>
            <a:off x="1097280" y="73152"/>
            <a:ext cx="9144000" cy="621792"/>
          </a:xfrm>
          <a:prstGeom prst="rect">
            <a:avLst/>
          </a:prstGeom>
          <a:noFill/>
        </p:spPr>
        <p:txBody>
          <a:bodyPr wrap="square">
            <a:spAutoFit/>
          </a:bodyPr>
          <a:lstStyle/>
          <a:p>
            <a:pPr algn="l"/>
            <a:r>
              <a:rPr sz="2800" b="1" i="0">
                <a:solidFill>
                  <a:srgbClr val="FFFFFF"/>
                </a:solidFill>
                <a:latin typeface="Calibri"/>
              </a:rPr>
              <a:t>AWS Lambda</a:t>
            </a:r>
          </a:p>
        </p:txBody>
      </p:sp>
      <p:sp>
        <p:nvSpPr>
          <p:cNvPr id="6" name="TextBox 5"/>
          <p:cNvSpPr txBox="1"/>
          <p:nvPr/>
        </p:nvSpPr>
        <p:spPr>
          <a:xfrm>
            <a:off x="1097280" y="713232"/>
            <a:ext cx="9144000" cy="411480"/>
          </a:xfrm>
          <a:prstGeom prst="rect">
            <a:avLst/>
          </a:prstGeom>
          <a:noFill/>
        </p:spPr>
        <p:txBody>
          <a:bodyPr wrap="square">
            <a:spAutoFit/>
          </a:bodyPr>
          <a:lstStyle/>
          <a:p>
            <a:pPr algn="l"/>
            <a:r>
              <a:rPr sz="1300" b="0" i="0">
                <a:solidFill>
                  <a:srgbClr val="BBCCDD"/>
                </a:solidFill>
                <a:latin typeface="Calibri"/>
              </a:rPr>
              <a:t>Serverless Compute Service</a:t>
            </a:r>
          </a:p>
        </p:txBody>
      </p:sp>
      <p:sp>
        <p:nvSpPr>
          <p:cNvPr id="7" name="Rectangle 6"/>
          <p:cNvSpPr/>
          <p:nvPr/>
        </p:nvSpPr>
        <p:spPr>
          <a:xfrm>
            <a:off x="274320" y="1371600"/>
            <a:ext cx="11887200" cy="5166360"/>
          </a:xfrm>
          <a:prstGeom prst="rect">
            <a:avLst/>
          </a:prstGeom>
          <a:solidFill>
            <a:srgbClr val="F4F6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274320" y="1371600"/>
            <a:ext cx="5394960" cy="5166360"/>
          </a:xfrm>
          <a:prstGeom prst="rect">
            <a:avLst/>
          </a:prstGeom>
          <a:solidFill>
            <a:srgbClr val="EE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274320" y="1371600"/>
            <a:ext cx="64008" cy="5166360"/>
          </a:xfrm>
          <a:prstGeom prst="rect">
            <a:avLst/>
          </a:prstGeom>
          <a:solidFill>
            <a:srgbClr val="FF9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57200" y="1463040"/>
            <a:ext cx="5120640" cy="411480"/>
          </a:xfrm>
          <a:prstGeom prst="rect">
            <a:avLst/>
          </a:prstGeom>
          <a:noFill/>
        </p:spPr>
        <p:txBody>
          <a:bodyPr wrap="square">
            <a:spAutoFit/>
          </a:bodyPr>
          <a:lstStyle/>
          <a:p>
            <a:pPr algn="l"/>
            <a:r>
              <a:rPr sz="1300" b="1" i="0">
                <a:solidFill>
                  <a:srgbClr val="132A45"/>
                </a:solidFill>
                <a:latin typeface="Calibri"/>
              </a:rPr>
              <a:t>Steps 1–5: Create Function</a:t>
            </a:r>
          </a:p>
        </p:txBody>
      </p:sp>
      <p:sp>
        <p:nvSpPr>
          <p:cNvPr id="11" name="Rectangle 10"/>
          <p:cNvSpPr/>
          <p:nvPr/>
        </p:nvSpPr>
        <p:spPr>
          <a:xfrm>
            <a:off x="475488" y="1965960"/>
            <a:ext cx="347472" cy="347472"/>
          </a:xfrm>
          <a:prstGeom prst="rect">
            <a:avLst/>
          </a:prstGeom>
          <a:solidFill>
            <a:srgbClr val="FF9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75488" y="1965960"/>
            <a:ext cx="347472" cy="347472"/>
          </a:xfrm>
          <a:prstGeom prst="rect">
            <a:avLst/>
          </a:prstGeom>
          <a:noFill/>
        </p:spPr>
        <p:txBody>
          <a:bodyPr wrap="square">
            <a:spAutoFit/>
          </a:bodyPr>
          <a:lstStyle/>
          <a:p>
            <a:pPr algn="ctr"/>
            <a:r>
              <a:rPr sz="1100" b="1" i="0">
                <a:solidFill>
                  <a:srgbClr val="FFFFFF"/>
                </a:solidFill>
                <a:latin typeface="Calibri"/>
              </a:rPr>
              <a:t>1</a:t>
            </a:r>
          </a:p>
        </p:txBody>
      </p:sp>
      <p:sp>
        <p:nvSpPr>
          <p:cNvPr id="13" name="TextBox 12"/>
          <p:cNvSpPr txBox="1"/>
          <p:nvPr/>
        </p:nvSpPr>
        <p:spPr>
          <a:xfrm>
            <a:off x="932688" y="1965960"/>
            <a:ext cx="4663440" cy="457200"/>
          </a:xfrm>
          <a:prstGeom prst="rect">
            <a:avLst/>
          </a:prstGeom>
          <a:noFill/>
        </p:spPr>
        <p:txBody>
          <a:bodyPr wrap="square">
            <a:spAutoFit/>
          </a:bodyPr>
          <a:lstStyle/>
          <a:p>
            <a:pPr algn="l"/>
            <a:r>
              <a:rPr sz="1100" b="0" i="0">
                <a:solidFill>
                  <a:srgbClr val="1A232F"/>
                </a:solidFill>
                <a:latin typeface="Calibri"/>
              </a:rPr>
              <a:t>Login to AWS Management Console</a:t>
            </a:r>
          </a:p>
        </p:txBody>
      </p:sp>
      <p:sp>
        <p:nvSpPr>
          <p:cNvPr id="14" name="Rectangle 13"/>
          <p:cNvSpPr/>
          <p:nvPr/>
        </p:nvSpPr>
        <p:spPr>
          <a:xfrm>
            <a:off x="475488" y="2468880"/>
            <a:ext cx="347472" cy="347472"/>
          </a:xfrm>
          <a:prstGeom prst="rect">
            <a:avLst/>
          </a:prstGeom>
          <a:solidFill>
            <a:srgbClr val="FF9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75488" y="2468880"/>
            <a:ext cx="347472" cy="347472"/>
          </a:xfrm>
          <a:prstGeom prst="rect">
            <a:avLst/>
          </a:prstGeom>
          <a:noFill/>
        </p:spPr>
        <p:txBody>
          <a:bodyPr wrap="square">
            <a:spAutoFit/>
          </a:bodyPr>
          <a:lstStyle/>
          <a:p>
            <a:pPr algn="ctr"/>
            <a:r>
              <a:rPr sz="1100" b="1" i="0">
                <a:solidFill>
                  <a:srgbClr val="FFFFFF"/>
                </a:solidFill>
                <a:latin typeface="Calibri"/>
              </a:rPr>
              <a:t>2</a:t>
            </a:r>
          </a:p>
        </p:txBody>
      </p:sp>
      <p:sp>
        <p:nvSpPr>
          <p:cNvPr id="16" name="TextBox 15"/>
          <p:cNvSpPr txBox="1"/>
          <p:nvPr/>
        </p:nvSpPr>
        <p:spPr>
          <a:xfrm>
            <a:off x="932688" y="2468880"/>
            <a:ext cx="4663440" cy="457200"/>
          </a:xfrm>
          <a:prstGeom prst="rect">
            <a:avLst/>
          </a:prstGeom>
          <a:noFill/>
        </p:spPr>
        <p:txBody>
          <a:bodyPr wrap="square">
            <a:spAutoFit/>
          </a:bodyPr>
          <a:lstStyle/>
          <a:p>
            <a:pPr algn="l"/>
            <a:r>
              <a:rPr sz="1100" b="0" i="0">
                <a:solidFill>
                  <a:srgbClr val="1A232F"/>
                </a:solidFill>
                <a:latin typeface="Calibri"/>
              </a:rPr>
              <a:t>Navigate to Lambda service (under Compute)</a:t>
            </a:r>
          </a:p>
        </p:txBody>
      </p:sp>
      <p:sp>
        <p:nvSpPr>
          <p:cNvPr id="17" name="Rectangle 16"/>
          <p:cNvSpPr/>
          <p:nvPr/>
        </p:nvSpPr>
        <p:spPr>
          <a:xfrm>
            <a:off x="475488" y="2971800"/>
            <a:ext cx="347472" cy="347472"/>
          </a:xfrm>
          <a:prstGeom prst="rect">
            <a:avLst/>
          </a:prstGeom>
          <a:solidFill>
            <a:srgbClr val="FF9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475488" y="2971800"/>
            <a:ext cx="347472" cy="347472"/>
          </a:xfrm>
          <a:prstGeom prst="rect">
            <a:avLst/>
          </a:prstGeom>
          <a:noFill/>
        </p:spPr>
        <p:txBody>
          <a:bodyPr wrap="square">
            <a:spAutoFit/>
          </a:bodyPr>
          <a:lstStyle/>
          <a:p>
            <a:pPr algn="ctr"/>
            <a:r>
              <a:rPr sz="1100" b="1" i="0">
                <a:solidFill>
                  <a:srgbClr val="FFFFFF"/>
                </a:solidFill>
                <a:latin typeface="Calibri"/>
              </a:rPr>
              <a:t>3</a:t>
            </a:r>
          </a:p>
        </p:txBody>
      </p:sp>
      <p:sp>
        <p:nvSpPr>
          <p:cNvPr id="19" name="TextBox 18"/>
          <p:cNvSpPr txBox="1"/>
          <p:nvPr/>
        </p:nvSpPr>
        <p:spPr>
          <a:xfrm>
            <a:off x="932688" y="2971800"/>
            <a:ext cx="4663440" cy="457200"/>
          </a:xfrm>
          <a:prstGeom prst="rect">
            <a:avLst/>
          </a:prstGeom>
          <a:noFill/>
        </p:spPr>
        <p:txBody>
          <a:bodyPr wrap="square">
            <a:spAutoFit/>
          </a:bodyPr>
          <a:lstStyle/>
          <a:p>
            <a:pPr algn="l"/>
            <a:r>
              <a:rPr sz="1100" b="0" i="0">
                <a:solidFill>
                  <a:srgbClr val="1A232F"/>
                </a:solidFill>
                <a:latin typeface="Calibri"/>
              </a:rPr>
              <a:t>Click 'Create a function'</a:t>
            </a:r>
          </a:p>
        </p:txBody>
      </p:sp>
      <p:sp>
        <p:nvSpPr>
          <p:cNvPr id="20" name="Rectangle 19"/>
          <p:cNvSpPr/>
          <p:nvPr/>
        </p:nvSpPr>
        <p:spPr>
          <a:xfrm>
            <a:off x="475488" y="3474720"/>
            <a:ext cx="347472" cy="347472"/>
          </a:xfrm>
          <a:prstGeom prst="rect">
            <a:avLst/>
          </a:prstGeom>
          <a:solidFill>
            <a:srgbClr val="FF9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475488" y="3474720"/>
            <a:ext cx="347472" cy="347472"/>
          </a:xfrm>
          <a:prstGeom prst="rect">
            <a:avLst/>
          </a:prstGeom>
          <a:noFill/>
        </p:spPr>
        <p:txBody>
          <a:bodyPr wrap="square">
            <a:spAutoFit/>
          </a:bodyPr>
          <a:lstStyle/>
          <a:p>
            <a:pPr algn="ctr"/>
            <a:r>
              <a:rPr sz="1100" b="1" i="0">
                <a:solidFill>
                  <a:srgbClr val="FFFFFF"/>
                </a:solidFill>
                <a:latin typeface="Calibri"/>
              </a:rPr>
              <a:t>4</a:t>
            </a:r>
          </a:p>
        </p:txBody>
      </p:sp>
      <p:sp>
        <p:nvSpPr>
          <p:cNvPr id="22" name="TextBox 21"/>
          <p:cNvSpPr txBox="1"/>
          <p:nvPr/>
        </p:nvSpPr>
        <p:spPr>
          <a:xfrm>
            <a:off x="932688" y="3474720"/>
            <a:ext cx="4663440" cy="457200"/>
          </a:xfrm>
          <a:prstGeom prst="rect">
            <a:avLst/>
          </a:prstGeom>
          <a:noFill/>
        </p:spPr>
        <p:txBody>
          <a:bodyPr wrap="square">
            <a:spAutoFit/>
          </a:bodyPr>
          <a:lstStyle/>
          <a:p>
            <a:pPr algn="l"/>
            <a:r>
              <a:rPr sz="1100" b="0" i="0">
                <a:solidFill>
                  <a:srgbClr val="1A232F"/>
                </a:solidFill>
                <a:latin typeface="Calibri"/>
              </a:rPr>
              <a:t>Select 'Author from Scratch'</a:t>
            </a:r>
          </a:p>
        </p:txBody>
      </p:sp>
      <p:sp>
        <p:nvSpPr>
          <p:cNvPr id="23" name="Rectangle 22"/>
          <p:cNvSpPr/>
          <p:nvPr/>
        </p:nvSpPr>
        <p:spPr>
          <a:xfrm>
            <a:off x="475488" y="3977639"/>
            <a:ext cx="347472" cy="347472"/>
          </a:xfrm>
          <a:prstGeom prst="rect">
            <a:avLst/>
          </a:prstGeom>
          <a:solidFill>
            <a:srgbClr val="FF9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475488" y="3977639"/>
            <a:ext cx="347472" cy="347472"/>
          </a:xfrm>
          <a:prstGeom prst="rect">
            <a:avLst/>
          </a:prstGeom>
          <a:noFill/>
        </p:spPr>
        <p:txBody>
          <a:bodyPr wrap="square">
            <a:spAutoFit/>
          </a:bodyPr>
          <a:lstStyle/>
          <a:p>
            <a:pPr algn="ctr"/>
            <a:r>
              <a:rPr sz="1100" b="1" i="0">
                <a:solidFill>
                  <a:srgbClr val="FFFFFF"/>
                </a:solidFill>
                <a:latin typeface="Calibri"/>
              </a:rPr>
              <a:t>5</a:t>
            </a:r>
          </a:p>
        </p:txBody>
      </p:sp>
      <p:sp>
        <p:nvSpPr>
          <p:cNvPr id="25" name="TextBox 24"/>
          <p:cNvSpPr txBox="1"/>
          <p:nvPr/>
        </p:nvSpPr>
        <p:spPr>
          <a:xfrm>
            <a:off x="932688" y="3977639"/>
            <a:ext cx="4663440" cy="457200"/>
          </a:xfrm>
          <a:prstGeom prst="rect">
            <a:avLst/>
          </a:prstGeom>
          <a:noFill/>
        </p:spPr>
        <p:txBody>
          <a:bodyPr wrap="square">
            <a:spAutoFit/>
          </a:bodyPr>
          <a:lstStyle/>
          <a:p>
            <a:pPr algn="l"/>
            <a:r>
              <a:rPr sz="1100" b="0" i="0">
                <a:solidFill>
                  <a:srgbClr val="1A232F"/>
                </a:solidFill>
                <a:latin typeface="Calibri"/>
              </a:rPr>
              <a:t>Enter Function Name: MyFirstLambda</a:t>
            </a:r>
          </a:p>
        </p:txBody>
      </p:sp>
      <p:sp>
        <p:nvSpPr>
          <p:cNvPr id="26" name="Rectangle 25"/>
          <p:cNvSpPr/>
          <p:nvPr/>
        </p:nvSpPr>
        <p:spPr>
          <a:xfrm>
            <a:off x="5897880" y="1371600"/>
            <a:ext cx="6263640" cy="51663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5897880" y="1371600"/>
            <a:ext cx="64008" cy="5166360"/>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6035040" y="6035040"/>
            <a:ext cx="6035040" cy="365760"/>
          </a:xfrm>
          <a:prstGeom prst="rect">
            <a:avLst/>
          </a:prstGeom>
          <a:noFill/>
        </p:spPr>
        <p:txBody>
          <a:bodyPr wrap="square">
            <a:spAutoFit/>
          </a:bodyPr>
          <a:lstStyle/>
          <a:p>
            <a:pPr algn="l"/>
            <a:r>
              <a:rPr sz="1000" b="0" i="1">
                <a:solidFill>
                  <a:srgbClr val="6C757D"/>
                </a:solidFill>
                <a:latin typeface="Calibri"/>
              </a:rPr>
              <a:t>AWS Lambda — Console Home &amp; Create Function</a:t>
            </a:r>
          </a:p>
        </p:txBody>
      </p:sp>
      <p:sp>
        <p:nvSpPr>
          <p:cNvPr id="30" name="Rectangle 29"/>
          <p:cNvSpPr/>
          <p:nvPr/>
        </p:nvSpPr>
        <p:spPr>
          <a:xfrm>
            <a:off x="0" y="6537960"/>
            <a:ext cx="12188952" cy="320040"/>
          </a:xfrm>
          <a:prstGeom prst="rect">
            <a:avLst/>
          </a:prstGeom>
          <a:solidFill>
            <a:srgbClr val="13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365760" y="6556248"/>
            <a:ext cx="11430000" cy="261610"/>
          </a:xfrm>
          <a:prstGeom prst="rect">
            <a:avLst/>
          </a:prstGeom>
          <a:noFill/>
        </p:spPr>
        <p:txBody>
          <a:bodyPr wrap="square">
            <a:spAutoFit/>
          </a:bodyPr>
          <a:lstStyle/>
          <a:p>
            <a:pPr algn="ctr"/>
            <a:r>
              <a:rPr sz="1100" b="0" i="0" dirty="0">
                <a:solidFill>
                  <a:srgbClr val="6C757D"/>
                </a:solidFill>
                <a:latin typeface="Calibri"/>
              </a:rPr>
              <a:t>K. </a:t>
            </a:r>
            <a:r>
              <a:rPr sz="1100" b="0" i="0" dirty="0" err="1">
                <a:solidFill>
                  <a:srgbClr val="6C757D"/>
                </a:solidFill>
                <a:latin typeface="Calibri"/>
              </a:rPr>
              <a:t>Arunsai</a:t>
            </a:r>
            <a:r>
              <a:rPr sz="1100" b="0" i="0" dirty="0">
                <a:solidFill>
                  <a:srgbClr val="6C757D"/>
                </a:solidFill>
                <a:latin typeface="Calibri"/>
              </a:rPr>
              <a:t>  |  DevOps T</a:t>
            </a:r>
          </a:p>
        </p:txBody>
      </p:sp>
      <p:pic>
        <p:nvPicPr>
          <p:cNvPr id="32" name="Picture 31">
            <a:extLst>
              <a:ext uri="{FF2B5EF4-FFF2-40B4-BE49-F238E27FC236}">
                <a16:creationId xmlns:a16="http://schemas.microsoft.com/office/drawing/2014/main" id="{DA67112A-BEE0-3A53-8083-D4B515A16C15}"/>
              </a:ext>
            </a:extLst>
          </p:cNvPr>
          <p:cNvPicPr/>
          <p:nvPr/>
        </p:nvPicPr>
        <p:blipFill>
          <a:blip r:embed="rId2"/>
          <a:stretch>
            <a:fillRect/>
          </a:stretch>
        </p:blipFill>
        <p:spPr>
          <a:xfrm>
            <a:off x="6035040" y="3355309"/>
            <a:ext cx="5903206" cy="2926080"/>
          </a:xfrm>
          <a:prstGeom prst="rect">
            <a:avLst/>
          </a:prstGeom>
        </p:spPr>
      </p:pic>
      <p:pic>
        <p:nvPicPr>
          <p:cNvPr id="33" name="Picture 32">
            <a:extLst>
              <a:ext uri="{FF2B5EF4-FFF2-40B4-BE49-F238E27FC236}">
                <a16:creationId xmlns:a16="http://schemas.microsoft.com/office/drawing/2014/main" id="{8B87ED93-83B5-0EE6-617A-69EE2995A720}"/>
              </a:ext>
            </a:extLst>
          </p:cNvPr>
          <p:cNvPicPr/>
          <p:nvPr/>
        </p:nvPicPr>
        <p:blipFill>
          <a:blip r:embed="rId3"/>
          <a:stretch>
            <a:fillRect/>
          </a:stretch>
        </p:blipFill>
        <p:spPr>
          <a:xfrm>
            <a:off x="6094411" y="1271555"/>
            <a:ext cx="5820093" cy="2065466"/>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1234440"/>
          </a:xfrm>
          <a:prstGeom prst="rect">
            <a:avLst/>
          </a:prstGeom>
          <a:solidFill>
            <a:srgbClr val="13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228600" y="201168"/>
            <a:ext cx="713232" cy="713232"/>
          </a:xfrm>
          <a:prstGeom prst="rect">
            <a:avLst/>
          </a:prstGeom>
          <a:solidFill>
            <a:srgbClr val="FF9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28600" y="201168"/>
            <a:ext cx="713232" cy="713232"/>
          </a:xfrm>
          <a:prstGeom prst="rect">
            <a:avLst/>
          </a:prstGeom>
          <a:noFill/>
        </p:spPr>
        <p:txBody>
          <a:bodyPr wrap="square">
            <a:spAutoFit/>
          </a:bodyPr>
          <a:lstStyle/>
          <a:p>
            <a:pPr algn="ctr"/>
            <a:r>
              <a:rPr sz="1800" b="1" i="0">
                <a:solidFill>
                  <a:srgbClr val="FFFFFF"/>
                </a:solidFill>
                <a:latin typeface="Calibri"/>
              </a:rPr>
              <a:t>01</a:t>
            </a:r>
          </a:p>
        </p:txBody>
      </p:sp>
      <p:sp>
        <p:nvSpPr>
          <p:cNvPr id="5" name="TextBox 4"/>
          <p:cNvSpPr txBox="1"/>
          <p:nvPr/>
        </p:nvSpPr>
        <p:spPr>
          <a:xfrm>
            <a:off x="1097280" y="73152"/>
            <a:ext cx="9144000" cy="621792"/>
          </a:xfrm>
          <a:prstGeom prst="rect">
            <a:avLst/>
          </a:prstGeom>
          <a:noFill/>
        </p:spPr>
        <p:txBody>
          <a:bodyPr wrap="square">
            <a:spAutoFit/>
          </a:bodyPr>
          <a:lstStyle/>
          <a:p>
            <a:pPr algn="l"/>
            <a:r>
              <a:rPr sz="2800" b="1" i="0">
                <a:solidFill>
                  <a:srgbClr val="FFFFFF"/>
                </a:solidFill>
                <a:latin typeface="Calibri"/>
              </a:rPr>
              <a:t>AWS Lambda</a:t>
            </a:r>
          </a:p>
        </p:txBody>
      </p:sp>
      <p:sp>
        <p:nvSpPr>
          <p:cNvPr id="6" name="TextBox 5"/>
          <p:cNvSpPr txBox="1"/>
          <p:nvPr/>
        </p:nvSpPr>
        <p:spPr>
          <a:xfrm>
            <a:off x="1097280" y="713232"/>
            <a:ext cx="9144000" cy="411480"/>
          </a:xfrm>
          <a:prstGeom prst="rect">
            <a:avLst/>
          </a:prstGeom>
          <a:noFill/>
        </p:spPr>
        <p:txBody>
          <a:bodyPr wrap="square">
            <a:spAutoFit/>
          </a:bodyPr>
          <a:lstStyle/>
          <a:p>
            <a:pPr algn="l"/>
            <a:r>
              <a:rPr sz="1300" b="0" i="0">
                <a:solidFill>
                  <a:srgbClr val="BBCCDD"/>
                </a:solidFill>
                <a:latin typeface="Calibri"/>
              </a:rPr>
              <a:t>Serverless Compute Service</a:t>
            </a:r>
          </a:p>
        </p:txBody>
      </p:sp>
      <p:sp>
        <p:nvSpPr>
          <p:cNvPr id="7" name="Rectangle 6"/>
          <p:cNvSpPr/>
          <p:nvPr/>
        </p:nvSpPr>
        <p:spPr>
          <a:xfrm>
            <a:off x="274320" y="1371600"/>
            <a:ext cx="11887200" cy="5166360"/>
          </a:xfrm>
          <a:prstGeom prst="rect">
            <a:avLst/>
          </a:prstGeom>
          <a:solidFill>
            <a:srgbClr val="F4F6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274320" y="1371600"/>
            <a:ext cx="5394960" cy="5166360"/>
          </a:xfrm>
          <a:prstGeom prst="rect">
            <a:avLst/>
          </a:prstGeom>
          <a:solidFill>
            <a:srgbClr val="EE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274320" y="1371600"/>
            <a:ext cx="64008" cy="5166360"/>
          </a:xfrm>
          <a:prstGeom prst="rect">
            <a:avLst/>
          </a:prstGeom>
          <a:solidFill>
            <a:srgbClr val="FF9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57200" y="1463040"/>
            <a:ext cx="5120640" cy="411480"/>
          </a:xfrm>
          <a:prstGeom prst="rect">
            <a:avLst/>
          </a:prstGeom>
          <a:noFill/>
        </p:spPr>
        <p:txBody>
          <a:bodyPr wrap="square">
            <a:spAutoFit/>
          </a:bodyPr>
          <a:lstStyle/>
          <a:p>
            <a:pPr algn="l"/>
            <a:r>
              <a:rPr sz="1300" b="1" i="0">
                <a:solidFill>
                  <a:srgbClr val="132A45"/>
                </a:solidFill>
                <a:latin typeface="Calibri"/>
              </a:rPr>
              <a:t>Steps 6–10: Code, Deploy &amp; Test</a:t>
            </a:r>
          </a:p>
        </p:txBody>
      </p:sp>
      <p:sp>
        <p:nvSpPr>
          <p:cNvPr id="11" name="Rectangle 10"/>
          <p:cNvSpPr/>
          <p:nvPr/>
        </p:nvSpPr>
        <p:spPr>
          <a:xfrm>
            <a:off x="475488" y="1965960"/>
            <a:ext cx="347472" cy="347472"/>
          </a:xfrm>
          <a:prstGeom prst="rect">
            <a:avLst/>
          </a:prstGeom>
          <a:solidFill>
            <a:srgbClr val="FF9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75488" y="1965960"/>
            <a:ext cx="347472" cy="347472"/>
          </a:xfrm>
          <a:prstGeom prst="rect">
            <a:avLst/>
          </a:prstGeom>
          <a:noFill/>
        </p:spPr>
        <p:txBody>
          <a:bodyPr wrap="square">
            <a:spAutoFit/>
          </a:bodyPr>
          <a:lstStyle/>
          <a:p>
            <a:pPr algn="ctr"/>
            <a:r>
              <a:rPr sz="1100" b="1" i="0">
                <a:solidFill>
                  <a:srgbClr val="FFFFFF"/>
                </a:solidFill>
                <a:latin typeface="Calibri"/>
              </a:rPr>
              <a:t>1</a:t>
            </a:r>
          </a:p>
        </p:txBody>
      </p:sp>
      <p:sp>
        <p:nvSpPr>
          <p:cNvPr id="13" name="TextBox 12"/>
          <p:cNvSpPr txBox="1"/>
          <p:nvPr/>
        </p:nvSpPr>
        <p:spPr>
          <a:xfrm>
            <a:off x="932688" y="1965960"/>
            <a:ext cx="4663440" cy="457200"/>
          </a:xfrm>
          <a:prstGeom prst="rect">
            <a:avLst/>
          </a:prstGeom>
          <a:noFill/>
        </p:spPr>
        <p:txBody>
          <a:bodyPr wrap="square">
            <a:spAutoFit/>
          </a:bodyPr>
          <a:lstStyle/>
          <a:p>
            <a:pPr algn="l"/>
            <a:r>
              <a:rPr sz="1100" b="0" i="0">
                <a:solidFill>
                  <a:srgbClr val="1A232F"/>
                </a:solidFill>
                <a:latin typeface="Calibri"/>
              </a:rPr>
              <a:t>Select Runtime: Python 3.14</a:t>
            </a:r>
          </a:p>
        </p:txBody>
      </p:sp>
      <p:sp>
        <p:nvSpPr>
          <p:cNvPr id="14" name="Rectangle 13"/>
          <p:cNvSpPr/>
          <p:nvPr/>
        </p:nvSpPr>
        <p:spPr>
          <a:xfrm>
            <a:off x="475488" y="2468880"/>
            <a:ext cx="347472" cy="347472"/>
          </a:xfrm>
          <a:prstGeom prst="rect">
            <a:avLst/>
          </a:prstGeom>
          <a:solidFill>
            <a:srgbClr val="FF9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75488" y="2468880"/>
            <a:ext cx="347472" cy="347472"/>
          </a:xfrm>
          <a:prstGeom prst="rect">
            <a:avLst/>
          </a:prstGeom>
          <a:noFill/>
        </p:spPr>
        <p:txBody>
          <a:bodyPr wrap="square">
            <a:spAutoFit/>
          </a:bodyPr>
          <a:lstStyle/>
          <a:p>
            <a:pPr algn="ctr"/>
            <a:r>
              <a:rPr sz="1100" b="1" i="0">
                <a:solidFill>
                  <a:srgbClr val="FFFFFF"/>
                </a:solidFill>
                <a:latin typeface="Calibri"/>
              </a:rPr>
              <a:t>2</a:t>
            </a:r>
          </a:p>
        </p:txBody>
      </p:sp>
      <p:sp>
        <p:nvSpPr>
          <p:cNvPr id="16" name="TextBox 15"/>
          <p:cNvSpPr txBox="1"/>
          <p:nvPr/>
        </p:nvSpPr>
        <p:spPr>
          <a:xfrm>
            <a:off x="932688" y="2468880"/>
            <a:ext cx="4663440" cy="457200"/>
          </a:xfrm>
          <a:prstGeom prst="rect">
            <a:avLst/>
          </a:prstGeom>
          <a:noFill/>
        </p:spPr>
        <p:txBody>
          <a:bodyPr wrap="square">
            <a:spAutoFit/>
          </a:bodyPr>
          <a:lstStyle/>
          <a:p>
            <a:pPr algn="l"/>
            <a:r>
              <a:rPr sz="1100" b="0" i="0">
                <a:solidFill>
                  <a:srgbClr val="1A232F"/>
                </a:solidFill>
                <a:latin typeface="Calibri"/>
              </a:rPr>
              <a:t>Create a new execution IAM role (MyFirstLambda-role)</a:t>
            </a:r>
          </a:p>
        </p:txBody>
      </p:sp>
      <p:sp>
        <p:nvSpPr>
          <p:cNvPr id="17" name="Rectangle 16"/>
          <p:cNvSpPr/>
          <p:nvPr/>
        </p:nvSpPr>
        <p:spPr>
          <a:xfrm>
            <a:off x="475488" y="2971800"/>
            <a:ext cx="347472" cy="347472"/>
          </a:xfrm>
          <a:prstGeom prst="rect">
            <a:avLst/>
          </a:prstGeom>
          <a:solidFill>
            <a:srgbClr val="FF9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475488" y="2971800"/>
            <a:ext cx="347472" cy="347472"/>
          </a:xfrm>
          <a:prstGeom prst="rect">
            <a:avLst/>
          </a:prstGeom>
          <a:noFill/>
        </p:spPr>
        <p:txBody>
          <a:bodyPr wrap="square">
            <a:spAutoFit/>
          </a:bodyPr>
          <a:lstStyle/>
          <a:p>
            <a:pPr algn="ctr"/>
            <a:r>
              <a:rPr sz="1100" b="1" i="0">
                <a:solidFill>
                  <a:srgbClr val="FFFFFF"/>
                </a:solidFill>
                <a:latin typeface="Calibri"/>
              </a:rPr>
              <a:t>3</a:t>
            </a:r>
          </a:p>
        </p:txBody>
      </p:sp>
      <p:sp>
        <p:nvSpPr>
          <p:cNvPr id="19" name="TextBox 18"/>
          <p:cNvSpPr txBox="1"/>
          <p:nvPr/>
        </p:nvSpPr>
        <p:spPr>
          <a:xfrm>
            <a:off x="932688" y="2971800"/>
            <a:ext cx="4663440" cy="457200"/>
          </a:xfrm>
          <a:prstGeom prst="rect">
            <a:avLst/>
          </a:prstGeom>
          <a:noFill/>
        </p:spPr>
        <p:txBody>
          <a:bodyPr wrap="square">
            <a:spAutoFit/>
          </a:bodyPr>
          <a:lstStyle/>
          <a:p>
            <a:pPr algn="l"/>
            <a:r>
              <a:rPr sz="1100" b="0" i="0">
                <a:solidFill>
                  <a:srgbClr val="1A232F"/>
                </a:solidFill>
                <a:latin typeface="Calibri"/>
              </a:rPr>
              <a:t>Write your handler code in the inline editor</a:t>
            </a:r>
          </a:p>
        </p:txBody>
      </p:sp>
      <p:sp>
        <p:nvSpPr>
          <p:cNvPr id="20" name="Rectangle 19"/>
          <p:cNvSpPr/>
          <p:nvPr/>
        </p:nvSpPr>
        <p:spPr>
          <a:xfrm>
            <a:off x="475488" y="3474720"/>
            <a:ext cx="347472" cy="347472"/>
          </a:xfrm>
          <a:prstGeom prst="rect">
            <a:avLst/>
          </a:prstGeom>
          <a:solidFill>
            <a:srgbClr val="FF9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475488" y="3474720"/>
            <a:ext cx="347472" cy="347472"/>
          </a:xfrm>
          <a:prstGeom prst="rect">
            <a:avLst/>
          </a:prstGeom>
          <a:noFill/>
        </p:spPr>
        <p:txBody>
          <a:bodyPr wrap="square">
            <a:spAutoFit/>
          </a:bodyPr>
          <a:lstStyle/>
          <a:p>
            <a:pPr algn="ctr"/>
            <a:r>
              <a:rPr sz="1100" b="1" i="0">
                <a:solidFill>
                  <a:srgbClr val="FFFFFF"/>
                </a:solidFill>
                <a:latin typeface="Calibri"/>
              </a:rPr>
              <a:t>4</a:t>
            </a:r>
          </a:p>
        </p:txBody>
      </p:sp>
      <p:sp>
        <p:nvSpPr>
          <p:cNvPr id="22" name="TextBox 21"/>
          <p:cNvSpPr txBox="1"/>
          <p:nvPr/>
        </p:nvSpPr>
        <p:spPr>
          <a:xfrm>
            <a:off x="932688" y="3474720"/>
            <a:ext cx="4663440" cy="457200"/>
          </a:xfrm>
          <a:prstGeom prst="rect">
            <a:avLst/>
          </a:prstGeom>
          <a:noFill/>
        </p:spPr>
        <p:txBody>
          <a:bodyPr wrap="square">
            <a:spAutoFit/>
          </a:bodyPr>
          <a:lstStyle/>
          <a:p>
            <a:pPr algn="l"/>
            <a:r>
              <a:rPr sz="1100" b="0" i="0">
                <a:solidFill>
                  <a:srgbClr val="1A232F"/>
                </a:solidFill>
                <a:latin typeface="Calibri"/>
              </a:rPr>
              <a:t>Click Deploy to publish the function</a:t>
            </a:r>
          </a:p>
        </p:txBody>
      </p:sp>
      <p:sp>
        <p:nvSpPr>
          <p:cNvPr id="23" name="Rectangle 22"/>
          <p:cNvSpPr/>
          <p:nvPr/>
        </p:nvSpPr>
        <p:spPr>
          <a:xfrm>
            <a:off x="475488" y="3977639"/>
            <a:ext cx="347472" cy="347472"/>
          </a:xfrm>
          <a:prstGeom prst="rect">
            <a:avLst/>
          </a:prstGeom>
          <a:solidFill>
            <a:srgbClr val="FF9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475488" y="3977639"/>
            <a:ext cx="347472" cy="347472"/>
          </a:xfrm>
          <a:prstGeom prst="rect">
            <a:avLst/>
          </a:prstGeom>
          <a:noFill/>
        </p:spPr>
        <p:txBody>
          <a:bodyPr wrap="square">
            <a:spAutoFit/>
          </a:bodyPr>
          <a:lstStyle/>
          <a:p>
            <a:pPr algn="ctr"/>
            <a:r>
              <a:rPr sz="1100" b="1" i="0">
                <a:solidFill>
                  <a:srgbClr val="FFFFFF"/>
                </a:solidFill>
                <a:latin typeface="Calibri"/>
              </a:rPr>
              <a:t>5</a:t>
            </a:r>
          </a:p>
        </p:txBody>
      </p:sp>
      <p:sp>
        <p:nvSpPr>
          <p:cNvPr id="25" name="TextBox 24"/>
          <p:cNvSpPr txBox="1"/>
          <p:nvPr/>
        </p:nvSpPr>
        <p:spPr>
          <a:xfrm>
            <a:off x="932688" y="3977639"/>
            <a:ext cx="4663440" cy="457200"/>
          </a:xfrm>
          <a:prstGeom prst="rect">
            <a:avLst/>
          </a:prstGeom>
          <a:noFill/>
        </p:spPr>
        <p:txBody>
          <a:bodyPr wrap="square">
            <a:spAutoFit/>
          </a:bodyPr>
          <a:lstStyle/>
          <a:p>
            <a:pPr algn="l"/>
            <a:r>
              <a:rPr sz="1100" b="0" i="0">
                <a:solidFill>
                  <a:srgbClr val="1A232F"/>
                </a:solidFill>
                <a:latin typeface="Calibri"/>
              </a:rPr>
              <a:t>Create a test event and click Test to execute</a:t>
            </a:r>
          </a:p>
        </p:txBody>
      </p:sp>
      <p:sp>
        <p:nvSpPr>
          <p:cNvPr id="26" name="Rectangle 25"/>
          <p:cNvSpPr/>
          <p:nvPr/>
        </p:nvSpPr>
        <p:spPr>
          <a:xfrm>
            <a:off x="5897880" y="1371600"/>
            <a:ext cx="6263640" cy="51663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5897880" y="1371600"/>
            <a:ext cx="64008" cy="5166360"/>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6035040" y="6035040"/>
            <a:ext cx="6035040" cy="365760"/>
          </a:xfrm>
          <a:prstGeom prst="rect">
            <a:avLst/>
          </a:prstGeom>
          <a:noFill/>
        </p:spPr>
        <p:txBody>
          <a:bodyPr wrap="square">
            <a:spAutoFit/>
          </a:bodyPr>
          <a:lstStyle/>
          <a:p>
            <a:pPr algn="l"/>
            <a:r>
              <a:rPr sz="1000" b="0" i="1">
                <a:solidFill>
                  <a:srgbClr val="6C757D"/>
                </a:solidFill>
                <a:latin typeface="Calibri"/>
              </a:rPr>
              <a:t>Lambda Code Editor &amp; Execution Role</a:t>
            </a:r>
          </a:p>
        </p:txBody>
      </p:sp>
      <p:sp>
        <p:nvSpPr>
          <p:cNvPr id="30" name="Rectangle 29"/>
          <p:cNvSpPr/>
          <p:nvPr/>
        </p:nvSpPr>
        <p:spPr>
          <a:xfrm>
            <a:off x="0" y="6537960"/>
            <a:ext cx="12188952" cy="320040"/>
          </a:xfrm>
          <a:prstGeom prst="rect">
            <a:avLst/>
          </a:prstGeom>
          <a:solidFill>
            <a:srgbClr val="13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365760" y="6556248"/>
            <a:ext cx="11430000" cy="261610"/>
          </a:xfrm>
          <a:prstGeom prst="rect">
            <a:avLst/>
          </a:prstGeom>
          <a:noFill/>
        </p:spPr>
        <p:txBody>
          <a:bodyPr wrap="square">
            <a:spAutoFit/>
          </a:bodyPr>
          <a:lstStyle/>
          <a:p>
            <a:pPr algn="ctr"/>
            <a:r>
              <a:rPr sz="1100" b="0" i="0" dirty="0">
                <a:solidFill>
                  <a:srgbClr val="6C757D"/>
                </a:solidFill>
                <a:latin typeface="Calibri"/>
              </a:rPr>
              <a:t>K. </a:t>
            </a:r>
            <a:r>
              <a:rPr sz="1100" b="0" i="0" dirty="0" err="1">
                <a:solidFill>
                  <a:srgbClr val="6C757D"/>
                </a:solidFill>
                <a:latin typeface="Calibri"/>
              </a:rPr>
              <a:t>Arunsai</a:t>
            </a:r>
            <a:r>
              <a:rPr sz="1100" b="0" i="0" dirty="0">
                <a:solidFill>
                  <a:srgbClr val="6C757D"/>
                </a:solidFill>
                <a:latin typeface="Calibri"/>
              </a:rPr>
              <a:t>  |  DevOps </a:t>
            </a:r>
          </a:p>
        </p:txBody>
      </p:sp>
      <p:pic>
        <p:nvPicPr>
          <p:cNvPr id="32" name="Picture 31">
            <a:extLst>
              <a:ext uri="{FF2B5EF4-FFF2-40B4-BE49-F238E27FC236}">
                <a16:creationId xmlns:a16="http://schemas.microsoft.com/office/drawing/2014/main" id="{ACC33BE5-CF81-B604-A63C-4781A22741C8}"/>
              </a:ext>
            </a:extLst>
          </p:cNvPr>
          <p:cNvPicPr/>
          <p:nvPr/>
        </p:nvPicPr>
        <p:blipFill>
          <a:blip r:embed="rId2"/>
          <a:stretch>
            <a:fillRect/>
          </a:stretch>
        </p:blipFill>
        <p:spPr>
          <a:xfrm>
            <a:off x="6172200" y="1463040"/>
            <a:ext cx="4416081" cy="2112264"/>
          </a:xfrm>
          <a:prstGeom prst="rect">
            <a:avLst/>
          </a:prstGeom>
        </p:spPr>
      </p:pic>
      <p:pic>
        <p:nvPicPr>
          <p:cNvPr id="33" name="Picture 32">
            <a:extLst>
              <a:ext uri="{FF2B5EF4-FFF2-40B4-BE49-F238E27FC236}">
                <a16:creationId xmlns:a16="http://schemas.microsoft.com/office/drawing/2014/main" id="{9C6F967A-3F1E-276C-C38E-10F00161A04F}"/>
              </a:ext>
            </a:extLst>
          </p:cNvPr>
          <p:cNvPicPr/>
          <p:nvPr/>
        </p:nvPicPr>
        <p:blipFill>
          <a:blip r:embed="rId3"/>
          <a:stretch>
            <a:fillRect/>
          </a:stretch>
        </p:blipFill>
        <p:spPr>
          <a:xfrm>
            <a:off x="6080760" y="3474720"/>
            <a:ext cx="5429368" cy="292608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1234440"/>
          </a:xfrm>
          <a:prstGeom prst="rect">
            <a:avLst/>
          </a:prstGeom>
          <a:solidFill>
            <a:srgbClr val="13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228600" y="201168"/>
            <a:ext cx="713232" cy="713232"/>
          </a:xfrm>
          <a:prstGeom prst="rect">
            <a:avLst/>
          </a:prstGeom>
          <a:solidFill>
            <a:srgbClr val="FF9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28600" y="201168"/>
            <a:ext cx="713232" cy="713232"/>
          </a:xfrm>
          <a:prstGeom prst="rect">
            <a:avLst/>
          </a:prstGeom>
          <a:noFill/>
        </p:spPr>
        <p:txBody>
          <a:bodyPr wrap="square">
            <a:spAutoFit/>
          </a:bodyPr>
          <a:lstStyle/>
          <a:p>
            <a:pPr algn="ctr"/>
            <a:r>
              <a:rPr sz="1800" b="1" i="0">
                <a:solidFill>
                  <a:srgbClr val="FFFFFF"/>
                </a:solidFill>
                <a:latin typeface="Calibri"/>
              </a:rPr>
              <a:t>01</a:t>
            </a:r>
          </a:p>
        </p:txBody>
      </p:sp>
      <p:sp>
        <p:nvSpPr>
          <p:cNvPr id="5" name="TextBox 4"/>
          <p:cNvSpPr txBox="1"/>
          <p:nvPr/>
        </p:nvSpPr>
        <p:spPr>
          <a:xfrm>
            <a:off x="1097280" y="73152"/>
            <a:ext cx="9144000" cy="621792"/>
          </a:xfrm>
          <a:prstGeom prst="rect">
            <a:avLst/>
          </a:prstGeom>
          <a:noFill/>
        </p:spPr>
        <p:txBody>
          <a:bodyPr wrap="square">
            <a:spAutoFit/>
          </a:bodyPr>
          <a:lstStyle/>
          <a:p>
            <a:pPr algn="l"/>
            <a:r>
              <a:rPr sz="2800" b="1" i="0">
                <a:solidFill>
                  <a:srgbClr val="FFFFFF"/>
                </a:solidFill>
                <a:latin typeface="Calibri"/>
              </a:rPr>
              <a:t>AWS Lambda</a:t>
            </a:r>
          </a:p>
        </p:txBody>
      </p:sp>
      <p:sp>
        <p:nvSpPr>
          <p:cNvPr id="6" name="TextBox 5"/>
          <p:cNvSpPr txBox="1"/>
          <p:nvPr/>
        </p:nvSpPr>
        <p:spPr>
          <a:xfrm>
            <a:off x="1097280" y="713232"/>
            <a:ext cx="9144000" cy="411480"/>
          </a:xfrm>
          <a:prstGeom prst="rect">
            <a:avLst/>
          </a:prstGeom>
          <a:noFill/>
        </p:spPr>
        <p:txBody>
          <a:bodyPr wrap="square">
            <a:spAutoFit/>
          </a:bodyPr>
          <a:lstStyle/>
          <a:p>
            <a:pPr algn="l"/>
            <a:r>
              <a:rPr sz="1300" b="0" i="0">
                <a:solidFill>
                  <a:srgbClr val="BBCCDD"/>
                </a:solidFill>
                <a:latin typeface="Calibri"/>
              </a:rPr>
              <a:t>Serverless Compute Service</a:t>
            </a:r>
          </a:p>
        </p:txBody>
      </p:sp>
      <p:sp>
        <p:nvSpPr>
          <p:cNvPr id="7" name="Rectangle 6"/>
          <p:cNvSpPr/>
          <p:nvPr/>
        </p:nvSpPr>
        <p:spPr>
          <a:xfrm>
            <a:off x="274320" y="1371600"/>
            <a:ext cx="11887200" cy="5166360"/>
          </a:xfrm>
          <a:prstGeom prst="rect">
            <a:avLst/>
          </a:prstGeom>
          <a:solidFill>
            <a:srgbClr val="F4F6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274320" y="1371600"/>
            <a:ext cx="5394960" cy="5166360"/>
          </a:xfrm>
          <a:prstGeom prst="rect">
            <a:avLst/>
          </a:prstGeom>
          <a:solidFill>
            <a:srgbClr val="EE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274320" y="1371600"/>
            <a:ext cx="64008" cy="5166360"/>
          </a:xfrm>
          <a:prstGeom prst="rect">
            <a:avLst/>
          </a:prstGeom>
          <a:solidFill>
            <a:srgbClr val="FF9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57200" y="1463040"/>
            <a:ext cx="5120640" cy="411480"/>
          </a:xfrm>
          <a:prstGeom prst="rect">
            <a:avLst/>
          </a:prstGeom>
          <a:noFill/>
        </p:spPr>
        <p:txBody>
          <a:bodyPr wrap="square">
            <a:spAutoFit/>
          </a:bodyPr>
          <a:lstStyle/>
          <a:p>
            <a:pPr algn="l"/>
            <a:r>
              <a:rPr sz="1300" b="1" i="0">
                <a:solidFill>
                  <a:srgbClr val="132A45"/>
                </a:solidFill>
                <a:latin typeface="Calibri"/>
              </a:rPr>
              <a:t>Steps 11–12: S3 Trigger &amp; CloudWatch</a:t>
            </a:r>
          </a:p>
        </p:txBody>
      </p:sp>
      <p:sp>
        <p:nvSpPr>
          <p:cNvPr id="11" name="Rectangle 10"/>
          <p:cNvSpPr/>
          <p:nvPr/>
        </p:nvSpPr>
        <p:spPr>
          <a:xfrm>
            <a:off x="475488" y="1965960"/>
            <a:ext cx="347472" cy="347472"/>
          </a:xfrm>
          <a:prstGeom prst="rect">
            <a:avLst/>
          </a:prstGeom>
          <a:solidFill>
            <a:srgbClr val="FF9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75488" y="1965960"/>
            <a:ext cx="347472" cy="347472"/>
          </a:xfrm>
          <a:prstGeom prst="rect">
            <a:avLst/>
          </a:prstGeom>
          <a:noFill/>
        </p:spPr>
        <p:txBody>
          <a:bodyPr wrap="square">
            <a:spAutoFit/>
          </a:bodyPr>
          <a:lstStyle/>
          <a:p>
            <a:pPr algn="ctr"/>
            <a:r>
              <a:rPr sz="1100" b="1" i="0">
                <a:solidFill>
                  <a:srgbClr val="FFFFFF"/>
                </a:solidFill>
                <a:latin typeface="Calibri"/>
              </a:rPr>
              <a:t>1</a:t>
            </a:r>
          </a:p>
        </p:txBody>
      </p:sp>
      <p:sp>
        <p:nvSpPr>
          <p:cNvPr id="13" name="TextBox 12"/>
          <p:cNvSpPr txBox="1"/>
          <p:nvPr/>
        </p:nvSpPr>
        <p:spPr>
          <a:xfrm>
            <a:off x="932688" y="1965960"/>
            <a:ext cx="4663440" cy="457200"/>
          </a:xfrm>
          <a:prstGeom prst="rect">
            <a:avLst/>
          </a:prstGeom>
          <a:noFill/>
        </p:spPr>
        <p:txBody>
          <a:bodyPr wrap="square">
            <a:spAutoFit/>
          </a:bodyPr>
          <a:lstStyle/>
          <a:p>
            <a:pPr algn="l"/>
            <a:r>
              <a:rPr sz="1100" b="0" i="0">
                <a:solidFill>
                  <a:srgbClr val="1A232F"/>
                </a:solidFill>
                <a:latin typeface="Calibri"/>
              </a:rPr>
              <a:t>Add an S3 bucket as a trigger for the Lambda</a:t>
            </a:r>
          </a:p>
        </p:txBody>
      </p:sp>
      <p:sp>
        <p:nvSpPr>
          <p:cNvPr id="14" name="Rectangle 13"/>
          <p:cNvSpPr/>
          <p:nvPr/>
        </p:nvSpPr>
        <p:spPr>
          <a:xfrm>
            <a:off x="475488" y="2468880"/>
            <a:ext cx="347472" cy="347472"/>
          </a:xfrm>
          <a:prstGeom prst="rect">
            <a:avLst/>
          </a:prstGeom>
          <a:solidFill>
            <a:srgbClr val="FF9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75488" y="2468880"/>
            <a:ext cx="347472" cy="347472"/>
          </a:xfrm>
          <a:prstGeom prst="rect">
            <a:avLst/>
          </a:prstGeom>
          <a:noFill/>
        </p:spPr>
        <p:txBody>
          <a:bodyPr wrap="square">
            <a:spAutoFit/>
          </a:bodyPr>
          <a:lstStyle/>
          <a:p>
            <a:pPr algn="ctr"/>
            <a:r>
              <a:rPr sz="1100" b="1" i="0">
                <a:solidFill>
                  <a:srgbClr val="FFFFFF"/>
                </a:solidFill>
                <a:latin typeface="Calibri"/>
              </a:rPr>
              <a:t>2</a:t>
            </a:r>
          </a:p>
        </p:txBody>
      </p:sp>
      <p:sp>
        <p:nvSpPr>
          <p:cNvPr id="16" name="TextBox 15"/>
          <p:cNvSpPr txBox="1"/>
          <p:nvPr/>
        </p:nvSpPr>
        <p:spPr>
          <a:xfrm>
            <a:off x="932688" y="2468880"/>
            <a:ext cx="4663440" cy="457200"/>
          </a:xfrm>
          <a:prstGeom prst="rect">
            <a:avLst/>
          </a:prstGeom>
          <a:noFill/>
        </p:spPr>
        <p:txBody>
          <a:bodyPr wrap="square">
            <a:spAutoFit/>
          </a:bodyPr>
          <a:lstStyle/>
          <a:p>
            <a:pPr algn="l"/>
            <a:r>
              <a:rPr sz="1100" b="0" i="0">
                <a:solidFill>
                  <a:srgbClr val="1A232F"/>
                </a:solidFill>
                <a:latin typeface="Calibri"/>
              </a:rPr>
              <a:t>Upload a file to the S3 bucket</a:t>
            </a:r>
          </a:p>
        </p:txBody>
      </p:sp>
      <p:sp>
        <p:nvSpPr>
          <p:cNvPr id="17" name="Rectangle 16"/>
          <p:cNvSpPr/>
          <p:nvPr/>
        </p:nvSpPr>
        <p:spPr>
          <a:xfrm>
            <a:off x="475488" y="2971800"/>
            <a:ext cx="347472" cy="347472"/>
          </a:xfrm>
          <a:prstGeom prst="rect">
            <a:avLst/>
          </a:prstGeom>
          <a:solidFill>
            <a:srgbClr val="FF9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475488" y="2971800"/>
            <a:ext cx="347472" cy="347472"/>
          </a:xfrm>
          <a:prstGeom prst="rect">
            <a:avLst/>
          </a:prstGeom>
          <a:noFill/>
        </p:spPr>
        <p:txBody>
          <a:bodyPr wrap="square">
            <a:spAutoFit/>
          </a:bodyPr>
          <a:lstStyle/>
          <a:p>
            <a:pPr algn="ctr"/>
            <a:r>
              <a:rPr sz="1100" b="1" i="0">
                <a:solidFill>
                  <a:srgbClr val="FFFFFF"/>
                </a:solidFill>
                <a:latin typeface="Calibri"/>
              </a:rPr>
              <a:t>3</a:t>
            </a:r>
          </a:p>
        </p:txBody>
      </p:sp>
      <p:sp>
        <p:nvSpPr>
          <p:cNvPr id="19" name="TextBox 18"/>
          <p:cNvSpPr txBox="1"/>
          <p:nvPr/>
        </p:nvSpPr>
        <p:spPr>
          <a:xfrm>
            <a:off x="932688" y="2971800"/>
            <a:ext cx="4663440" cy="457200"/>
          </a:xfrm>
          <a:prstGeom prst="rect">
            <a:avLst/>
          </a:prstGeom>
          <a:noFill/>
        </p:spPr>
        <p:txBody>
          <a:bodyPr wrap="square">
            <a:spAutoFit/>
          </a:bodyPr>
          <a:lstStyle/>
          <a:p>
            <a:pPr algn="l"/>
            <a:r>
              <a:rPr sz="1100" b="0" i="0">
                <a:solidFill>
                  <a:srgbClr val="1A232F"/>
                </a:solidFill>
                <a:latin typeface="Calibri"/>
              </a:rPr>
              <a:t>Lambda is invoked automatically on upload</a:t>
            </a:r>
          </a:p>
        </p:txBody>
      </p:sp>
      <p:sp>
        <p:nvSpPr>
          <p:cNvPr id="20" name="Rectangle 19"/>
          <p:cNvSpPr/>
          <p:nvPr/>
        </p:nvSpPr>
        <p:spPr>
          <a:xfrm>
            <a:off x="475488" y="3474720"/>
            <a:ext cx="347472" cy="347472"/>
          </a:xfrm>
          <a:prstGeom prst="rect">
            <a:avLst/>
          </a:prstGeom>
          <a:solidFill>
            <a:srgbClr val="FF9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475488" y="3474720"/>
            <a:ext cx="347472" cy="347472"/>
          </a:xfrm>
          <a:prstGeom prst="rect">
            <a:avLst/>
          </a:prstGeom>
          <a:noFill/>
        </p:spPr>
        <p:txBody>
          <a:bodyPr wrap="square">
            <a:spAutoFit/>
          </a:bodyPr>
          <a:lstStyle/>
          <a:p>
            <a:pPr algn="ctr"/>
            <a:r>
              <a:rPr sz="1100" b="1" i="0">
                <a:solidFill>
                  <a:srgbClr val="FFFFFF"/>
                </a:solidFill>
                <a:latin typeface="Calibri"/>
              </a:rPr>
              <a:t>4</a:t>
            </a:r>
          </a:p>
        </p:txBody>
      </p:sp>
      <p:sp>
        <p:nvSpPr>
          <p:cNvPr id="22" name="TextBox 21"/>
          <p:cNvSpPr txBox="1"/>
          <p:nvPr/>
        </p:nvSpPr>
        <p:spPr>
          <a:xfrm>
            <a:off x="932688" y="3474720"/>
            <a:ext cx="4663440" cy="457200"/>
          </a:xfrm>
          <a:prstGeom prst="rect">
            <a:avLst/>
          </a:prstGeom>
          <a:noFill/>
        </p:spPr>
        <p:txBody>
          <a:bodyPr wrap="square">
            <a:spAutoFit/>
          </a:bodyPr>
          <a:lstStyle/>
          <a:p>
            <a:pPr algn="l"/>
            <a:r>
              <a:rPr sz="1100" b="0" i="0">
                <a:solidFill>
                  <a:srgbClr val="1A232F"/>
                </a:solidFill>
                <a:latin typeface="Calibri"/>
              </a:rPr>
              <a:t>Open CloudWatch → Log Groups → MyFirstLambda</a:t>
            </a:r>
          </a:p>
        </p:txBody>
      </p:sp>
      <p:sp>
        <p:nvSpPr>
          <p:cNvPr id="23" name="Rectangle 22"/>
          <p:cNvSpPr/>
          <p:nvPr/>
        </p:nvSpPr>
        <p:spPr>
          <a:xfrm>
            <a:off x="475488" y="3977639"/>
            <a:ext cx="347472" cy="347472"/>
          </a:xfrm>
          <a:prstGeom prst="rect">
            <a:avLst/>
          </a:prstGeom>
          <a:solidFill>
            <a:srgbClr val="FF9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475488" y="3977639"/>
            <a:ext cx="347472" cy="347472"/>
          </a:xfrm>
          <a:prstGeom prst="rect">
            <a:avLst/>
          </a:prstGeom>
          <a:noFill/>
        </p:spPr>
        <p:txBody>
          <a:bodyPr wrap="square">
            <a:spAutoFit/>
          </a:bodyPr>
          <a:lstStyle/>
          <a:p>
            <a:pPr algn="ctr"/>
            <a:r>
              <a:rPr sz="1100" b="1" i="0">
                <a:solidFill>
                  <a:srgbClr val="FFFFFF"/>
                </a:solidFill>
                <a:latin typeface="Calibri"/>
              </a:rPr>
              <a:t>5</a:t>
            </a:r>
          </a:p>
        </p:txBody>
      </p:sp>
      <p:sp>
        <p:nvSpPr>
          <p:cNvPr id="25" name="TextBox 24"/>
          <p:cNvSpPr txBox="1"/>
          <p:nvPr/>
        </p:nvSpPr>
        <p:spPr>
          <a:xfrm>
            <a:off x="932688" y="3977639"/>
            <a:ext cx="4663440" cy="457200"/>
          </a:xfrm>
          <a:prstGeom prst="rect">
            <a:avLst/>
          </a:prstGeom>
          <a:noFill/>
        </p:spPr>
        <p:txBody>
          <a:bodyPr wrap="square">
            <a:spAutoFit/>
          </a:bodyPr>
          <a:lstStyle/>
          <a:p>
            <a:pPr algn="l"/>
            <a:r>
              <a:rPr sz="1100" b="0" i="0">
                <a:solidFill>
                  <a:srgbClr val="1A232F"/>
                </a:solidFill>
                <a:latin typeface="Calibri"/>
              </a:rPr>
              <a:t>Verify the log events showing function execution</a:t>
            </a:r>
          </a:p>
        </p:txBody>
      </p:sp>
      <p:sp>
        <p:nvSpPr>
          <p:cNvPr id="26" name="Rectangle 25"/>
          <p:cNvSpPr/>
          <p:nvPr/>
        </p:nvSpPr>
        <p:spPr>
          <a:xfrm>
            <a:off x="5897880" y="1371600"/>
            <a:ext cx="6263640" cy="51663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5897880" y="1371600"/>
            <a:ext cx="64008" cy="5166360"/>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8" name="Picture 27" descr="lambda_3.jpg"/>
          <p:cNvPicPr>
            <a:picLocks noChangeAspect="1"/>
          </p:cNvPicPr>
          <p:nvPr/>
        </p:nvPicPr>
        <p:blipFill>
          <a:blip r:embed="rId2"/>
          <a:stretch>
            <a:fillRect/>
          </a:stretch>
        </p:blipFill>
        <p:spPr>
          <a:xfrm>
            <a:off x="5992649" y="1532232"/>
            <a:ext cx="6168871" cy="4579919"/>
          </a:xfrm>
          <a:prstGeom prst="rect">
            <a:avLst/>
          </a:prstGeom>
        </p:spPr>
      </p:pic>
      <p:sp>
        <p:nvSpPr>
          <p:cNvPr id="29" name="TextBox 28"/>
          <p:cNvSpPr txBox="1"/>
          <p:nvPr/>
        </p:nvSpPr>
        <p:spPr>
          <a:xfrm>
            <a:off x="6044184" y="6321293"/>
            <a:ext cx="6035040" cy="365760"/>
          </a:xfrm>
          <a:prstGeom prst="rect">
            <a:avLst/>
          </a:prstGeom>
          <a:noFill/>
        </p:spPr>
        <p:txBody>
          <a:bodyPr wrap="square">
            <a:spAutoFit/>
          </a:bodyPr>
          <a:lstStyle/>
          <a:p>
            <a:pPr algn="l"/>
            <a:r>
              <a:rPr sz="1000" b="0" i="1" dirty="0">
                <a:solidFill>
                  <a:srgbClr val="6C757D"/>
                </a:solidFill>
                <a:latin typeface="Calibri"/>
              </a:rPr>
              <a:t>Lambda Trigger from S3 &amp; CloudWatch Logs</a:t>
            </a:r>
          </a:p>
        </p:txBody>
      </p:sp>
      <p:sp>
        <p:nvSpPr>
          <p:cNvPr id="30" name="Rectangle 29"/>
          <p:cNvSpPr/>
          <p:nvPr/>
        </p:nvSpPr>
        <p:spPr>
          <a:xfrm>
            <a:off x="0" y="6537960"/>
            <a:ext cx="12188952" cy="320040"/>
          </a:xfrm>
          <a:prstGeom prst="rect">
            <a:avLst/>
          </a:prstGeom>
          <a:solidFill>
            <a:srgbClr val="13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365760" y="6556248"/>
            <a:ext cx="11430000" cy="261610"/>
          </a:xfrm>
          <a:prstGeom prst="rect">
            <a:avLst/>
          </a:prstGeom>
          <a:noFill/>
        </p:spPr>
        <p:txBody>
          <a:bodyPr wrap="square">
            <a:spAutoFit/>
          </a:bodyPr>
          <a:lstStyle/>
          <a:p>
            <a:pPr algn="ctr"/>
            <a:r>
              <a:rPr sz="1100" b="0" i="0" dirty="0">
                <a:solidFill>
                  <a:srgbClr val="6C757D"/>
                </a:solidFill>
                <a:latin typeface="Calibri"/>
              </a:rPr>
              <a:t>K. </a:t>
            </a:r>
            <a:r>
              <a:rPr sz="1100" b="0" i="0" dirty="0" err="1">
                <a:solidFill>
                  <a:srgbClr val="6C757D"/>
                </a:solidFill>
                <a:latin typeface="Calibri"/>
              </a:rPr>
              <a:t>Arunsai</a:t>
            </a:r>
            <a:r>
              <a:rPr sz="1100" b="0" i="0" dirty="0">
                <a:solidFill>
                  <a:srgbClr val="6C757D"/>
                </a:solidFill>
                <a:latin typeface="Calibri"/>
              </a:rPr>
              <a:t>  |  DevOps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13</TotalTime>
  <Words>327</Words>
  <Application>Microsoft Office PowerPoint</Application>
  <PresentationFormat>Custom</PresentationFormat>
  <Paragraphs>67</Paragraphs>
  <Slides>5</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Arunsai</dc:creator>
  <cp:keywords/>
  <dc:description>generated using python-pptx</dc:description>
  <cp:lastModifiedBy>Arun sai</cp:lastModifiedBy>
  <cp:revision>2</cp:revision>
  <dcterms:created xsi:type="dcterms:W3CDTF">2013-01-27T09:14:16Z</dcterms:created>
  <dcterms:modified xsi:type="dcterms:W3CDTF">2026-05-11T18:01:13Z</dcterms:modified>
  <cp:category/>
</cp:coreProperties>
</file>
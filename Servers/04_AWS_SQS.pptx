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8B2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AWS SQS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8B2FC9"/>
                </a:solidFill>
                <a:latin typeface="Calibri"/>
              </a:rPr>
              <a:t>Simple Queue Service — Decouple &amp; Scale Microservices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291840"/>
            <a:ext cx="9144000" cy="45720"/>
          </a:xfrm>
          <a:prstGeom prst="rect">
            <a:avLst/>
          </a:prstGeom>
          <a:solidFill>
            <a:srgbClr val="007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3611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C757D"/>
                </a:solidFill>
                <a:latin typeface="Calibri"/>
              </a:rPr>
              <a:t>Presented by: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K. Arunsai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35040"/>
            <a:ext cx="9144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6C757D"/>
                </a:solidFill>
                <a:latin typeface="Calibri"/>
              </a:rPr>
              <a:t>DevOps   |  AWS Infrastructure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3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28600" y="201168"/>
            <a:ext cx="713232" cy="713232"/>
          </a:xfrm>
          <a:prstGeom prst="rect">
            <a:avLst/>
          </a:prstGeom>
          <a:solidFill>
            <a:srgbClr val="8B2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01168"/>
            <a:ext cx="7132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3152"/>
            <a:ext cx="9144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AWS SQS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7132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CCDD"/>
                </a:solidFill>
                <a:latin typeface="Calibri"/>
              </a:rPr>
              <a:t>Simple Queue Service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5577840" cy="51663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64008" cy="5166360"/>
          </a:xfrm>
          <a:prstGeom prst="rect">
            <a:avLst/>
          </a:prstGeom>
          <a:solidFill>
            <a:srgbClr val="8B2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32A45"/>
                </a:solidFill>
                <a:latin typeface="Calibri"/>
              </a:rPr>
              <a:t>What is it?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65960"/>
            <a:ext cx="5212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2F"/>
                </a:solidFill>
                <a:latin typeface="Calibri"/>
              </a:rPr>
              <a:t>AWS Simple Queue Service (SQS) is a fully managed message queuing service that enables you to decouple and scale microservices, distributed systems, and serverless applications. SQS eliminates the complexity and overhead of managing messaging middleware.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20624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2FC9"/>
                </a:solidFill>
                <a:latin typeface="Calibri"/>
              </a:rPr>
              <a:t>Key Highlights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" y="4736592"/>
            <a:ext cx="128016" cy="128016"/>
          </a:xfrm>
          <a:prstGeom prst="rect">
            <a:avLst/>
          </a:prstGeom>
          <a:solidFill>
            <a:srgbClr val="8B2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" y="466344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2F"/>
                </a:solidFill>
                <a:latin typeface="Calibri"/>
              </a:rPr>
              <a:t>Standard (best-effort) &amp; FIFO (exactly-once) queues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5138928"/>
            <a:ext cx="128016" cy="128016"/>
          </a:xfrm>
          <a:prstGeom prst="rect">
            <a:avLst/>
          </a:prstGeom>
          <a:solidFill>
            <a:srgbClr val="8B2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3232" y="5065776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2F"/>
                </a:solidFill>
                <a:latin typeface="Calibri"/>
              </a:rPr>
              <a:t>Unlimited message throughput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" y="5541264"/>
            <a:ext cx="128016" cy="128016"/>
          </a:xfrm>
          <a:prstGeom prst="rect">
            <a:avLst/>
          </a:prstGeom>
          <a:solidFill>
            <a:srgbClr val="8B2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3232" y="546811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2F"/>
                </a:solidFill>
                <a:latin typeface="Calibri"/>
              </a:rPr>
              <a:t>Message size up to 256 KB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" y="5943600"/>
            <a:ext cx="128016" cy="128016"/>
          </a:xfrm>
          <a:prstGeom prst="rect">
            <a:avLst/>
          </a:prstGeom>
          <a:solidFill>
            <a:srgbClr val="8B2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3232" y="587044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2F"/>
                </a:solidFill>
                <a:latin typeface="Calibri"/>
              </a:rPr>
              <a:t>Retention period: 1 minute to 14 days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" y="6345936"/>
            <a:ext cx="128016" cy="128016"/>
          </a:xfrm>
          <a:prstGeom prst="rect">
            <a:avLst/>
          </a:prstGeom>
          <a:solidFill>
            <a:srgbClr val="8B2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3232" y="6272784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2F"/>
                </a:solidFill>
                <a:latin typeface="Calibri"/>
              </a:rPr>
              <a:t>Dead-Letter Queue (DLQ) support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" y="6748272"/>
            <a:ext cx="128016" cy="128016"/>
          </a:xfrm>
          <a:prstGeom prst="rect">
            <a:avLst/>
          </a:prstGeom>
          <a:solidFill>
            <a:srgbClr val="8B2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3232" y="667512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2F"/>
                </a:solidFill>
                <a:latin typeface="Calibri"/>
              </a:rPr>
              <a:t>Server-side encryption with KMS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1371600"/>
            <a:ext cx="6062472" cy="5166360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26480" y="1371600"/>
            <a:ext cx="64008" cy="5166360"/>
          </a:xfrm>
          <a:prstGeom prst="rect">
            <a:avLst/>
          </a:prstGeom>
          <a:solidFill>
            <a:srgbClr val="8B2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09360" y="146304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32A45"/>
                </a:solidFill>
                <a:latin typeface="Calibri"/>
              </a:rPr>
              <a:t>AWS Console Preview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3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5760" y="6556248"/>
            <a:ext cx="1143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6C757D"/>
                </a:solidFill>
                <a:latin typeface="Calibri"/>
              </a:rPr>
              <a:t>K. </a:t>
            </a:r>
            <a:r>
              <a:rPr sz="1100" b="0" i="0" dirty="0" err="1">
                <a:solidFill>
                  <a:srgbClr val="6C757D"/>
                </a:solidFill>
                <a:latin typeface="Calibri"/>
              </a:rPr>
              <a:t>Arunsai</a:t>
            </a:r>
            <a:r>
              <a:rPr sz="1100" b="0" i="0" dirty="0">
                <a:solidFill>
                  <a:srgbClr val="6C757D"/>
                </a:solidFill>
                <a:latin typeface="Calibri"/>
              </a:rPr>
              <a:t>  |  DevOps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B83DD396-8770-E031-6DCB-F32E8671545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190487" y="1563623"/>
            <a:ext cx="5998465" cy="249932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3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28600" y="201168"/>
            <a:ext cx="713232" cy="713232"/>
          </a:xfrm>
          <a:prstGeom prst="rect">
            <a:avLst/>
          </a:prstGeom>
          <a:solidFill>
            <a:srgbClr val="8B2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01168"/>
            <a:ext cx="7132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3152"/>
            <a:ext cx="9144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AWS SQS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7132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CCDD"/>
                </a:solidFill>
                <a:latin typeface="Calibri"/>
              </a:rPr>
              <a:t>Simple Queue Service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11887200" cy="51663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5394960" cy="5166360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371600"/>
            <a:ext cx="64008" cy="5166360"/>
          </a:xfrm>
          <a:prstGeom prst="rect">
            <a:avLst/>
          </a:prstGeom>
          <a:solidFill>
            <a:srgbClr val="8B2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32A45"/>
                </a:solidFill>
                <a:latin typeface="Calibri"/>
              </a:rPr>
              <a:t>Steps 1–4: Create Queue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965960"/>
            <a:ext cx="347472" cy="347472"/>
          </a:xfrm>
          <a:prstGeom prst="rect">
            <a:avLst/>
          </a:prstGeom>
          <a:solidFill>
            <a:srgbClr val="8B2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" y="19659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19659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F"/>
                </a:solidFill>
                <a:latin typeface="Calibri"/>
              </a:rPr>
              <a:t>Open AWS Console → Search 'SQS'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2468880"/>
            <a:ext cx="347472" cy="347472"/>
          </a:xfrm>
          <a:prstGeom prst="rect">
            <a:avLst/>
          </a:prstGeom>
          <a:solidFill>
            <a:srgbClr val="8B2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5488" y="246888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24688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F"/>
                </a:solidFill>
                <a:latin typeface="Calibri"/>
              </a:rPr>
              <a:t>Click 'Create queue'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" y="2971800"/>
            <a:ext cx="347472" cy="347472"/>
          </a:xfrm>
          <a:prstGeom prst="rect">
            <a:avLst/>
          </a:prstGeom>
          <a:solidFill>
            <a:srgbClr val="8B2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5488" y="297180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29718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F"/>
                </a:solidFill>
                <a:latin typeface="Calibri"/>
              </a:rPr>
              <a:t>Select type: Standard Queue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" y="3474720"/>
            <a:ext cx="347472" cy="347472"/>
          </a:xfrm>
          <a:prstGeom prst="rect">
            <a:avLst/>
          </a:prstGeom>
          <a:solidFill>
            <a:srgbClr val="8B2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5488" y="347472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34747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F"/>
                </a:solidFill>
                <a:latin typeface="Calibri"/>
              </a:rPr>
              <a:t>Enter queue name: First_queue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5488" y="3977639"/>
            <a:ext cx="347472" cy="347472"/>
          </a:xfrm>
          <a:prstGeom prst="rect">
            <a:avLst/>
          </a:prstGeom>
          <a:solidFill>
            <a:srgbClr val="8B2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5488" y="3977639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3977639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F"/>
                </a:solidFill>
                <a:latin typeface="Calibri"/>
              </a:rPr>
              <a:t>Keep Configuration settings as default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" y="4480559"/>
            <a:ext cx="347472" cy="347472"/>
          </a:xfrm>
          <a:prstGeom prst="rect">
            <a:avLst/>
          </a:prstGeom>
          <a:solidFill>
            <a:srgbClr val="8B2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5488" y="4480559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4480559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F"/>
                </a:solidFill>
                <a:latin typeface="Calibri"/>
              </a:rPr>
              <a:t>Click 'Create Queue'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97880" y="1371600"/>
            <a:ext cx="626364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897880" y="1371600"/>
            <a:ext cx="64008" cy="51663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sqs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508760"/>
            <a:ext cx="6035040" cy="448056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035040" y="603504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C757D"/>
                </a:solidFill>
                <a:latin typeface="Calibri"/>
              </a:rPr>
              <a:t>SQS Console — Queue Type &amp; Name Configuration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3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5760" y="6556248"/>
            <a:ext cx="1143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6C757D"/>
                </a:solidFill>
                <a:latin typeface="Calibri"/>
              </a:rPr>
              <a:t>K. </a:t>
            </a:r>
            <a:r>
              <a:rPr sz="1100" b="0" i="0" dirty="0" err="1">
                <a:solidFill>
                  <a:srgbClr val="6C757D"/>
                </a:solidFill>
                <a:latin typeface="Calibri"/>
              </a:rPr>
              <a:t>Arunsai</a:t>
            </a:r>
            <a:r>
              <a:rPr sz="1100" b="0" i="0" dirty="0">
                <a:solidFill>
                  <a:srgbClr val="6C757D"/>
                </a:solidFill>
                <a:latin typeface="Calibri"/>
              </a:rPr>
              <a:t>  |  DevOps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3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28600" y="201168"/>
            <a:ext cx="713232" cy="713232"/>
          </a:xfrm>
          <a:prstGeom prst="rect">
            <a:avLst/>
          </a:prstGeom>
          <a:solidFill>
            <a:srgbClr val="8B2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01168"/>
            <a:ext cx="7132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3152"/>
            <a:ext cx="9144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AWS SQS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7132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CCDD"/>
                </a:solidFill>
                <a:latin typeface="Calibri"/>
              </a:rPr>
              <a:t>Simple Queue Service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11887200" cy="51663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5394960" cy="5166360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371600"/>
            <a:ext cx="64008" cy="5166360"/>
          </a:xfrm>
          <a:prstGeom prst="rect">
            <a:avLst/>
          </a:prstGeom>
          <a:solidFill>
            <a:srgbClr val="8B2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32A45"/>
                </a:solidFill>
                <a:latin typeface="Calibri"/>
              </a:rPr>
              <a:t>Steps 5–6: Send &amp; Receive Messages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965960"/>
            <a:ext cx="347472" cy="347472"/>
          </a:xfrm>
          <a:prstGeom prst="rect">
            <a:avLst/>
          </a:prstGeom>
          <a:solidFill>
            <a:srgbClr val="8B2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" y="19659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19659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F"/>
                </a:solidFill>
                <a:latin typeface="Calibri"/>
              </a:rPr>
              <a:t>Click 'Send and receive messages'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2468880"/>
            <a:ext cx="347472" cy="347472"/>
          </a:xfrm>
          <a:prstGeom prst="rect">
            <a:avLst/>
          </a:prstGeom>
          <a:solidFill>
            <a:srgbClr val="8B2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5488" y="246888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24688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F"/>
                </a:solidFill>
                <a:latin typeface="Calibri"/>
              </a:rPr>
              <a:t>In 'Send message': enter body text (e.g. 'Hi Sai, how are you')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" y="2971800"/>
            <a:ext cx="347472" cy="347472"/>
          </a:xfrm>
          <a:prstGeom prst="rect">
            <a:avLst/>
          </a:prstGeom>
          <a:solidFill>
            <a:srgbClr val="8B2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5488" y="297180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29718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F"/>
                </a:solidFill>
                <a:latin typeface="Calibri"/>
              </a:rPr>
              <a:t>Click 'Send message' — confirmation shown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" y="3474720"/>
            <a:ext cx="347472" cy="347472"/>
          </a:xfrm>
          <a:prstGeom prst="rect">
            <a:avLst/>
          </a:prstGeom>
          <a:solidFill>
            <a:srgbClr val="8B2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5488" y="347472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34747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F"/>
                </a:solidFill>
                <a:latin typeface="Calibri"/>
              </a:rPr>
              <a:t>Scroll to 'Receive messages' section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5488" y="3977639"/>
            <a:ext cx="347472" cy="347472"/>
          </a:xfrm>
          <a:prstGeom prst="rect">
            <a:avLst/>
          </a:prstGeom>
          <a:solidFill>
            <a:srgbClr val="8B2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5488" y="3977639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3977639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F"/>
                </a:solidFill>
                <a:latin typeface="Calibri"/>
              </a:rPr>
              <a:t>Click 'Poll for messages'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" y="4480559"/>
            <a:ext cx="347472" cy="347472"/>
          </a:xfrm>
          <a:prstGeom prst="rect">
            <a:avLst/>
          </a:prstGeom>
          <a:solidFill>
            <a:srgbClr val="8B2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5488" y="4480559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4480559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F"/>
                </a:solidFill>
                <a:latin typeface="Calibri"/>
              </a:rPr>
              <a:t>Message appears in the Messages list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97880" y="1371600"/>
            <a:ext cx="626364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897880" y="1371600"/>
            <a:ext cx="64008" cy="51663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sqs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508760"/>
            <a:ext cx="6035040" cy="448056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035040" y="603504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C757D"/>
                </a:solidFill>
                <a:latin typeface="Calibri"/>
              </a:rPr>
              <a:t>Sending a Message &amp; Polling for Messages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3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5760" y="6556248"/>
            <a:ext cx="1143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6C757D"/>
                </a:solidFill>
                <a:latin typeface="Calibri"/>
              </a:rPr>
              <a:t>K. </a:t>
            </a:r>
            <a:r>
              <a:rPr sz="1100" b="0" i="0" dirty="0" err="1">
                <a:solidFill>
                  <a:srgbClr val="6C757D"/>
                </a:solidFill>
                <a:latin typeface="Calibri"/>
              </a:rPr>
              <a:t>Arunsai</a:t>
            </a:r>
            <a:r>
              <a:rPr sz="1100" b="0" i="0" dirty="0">
                <a:solidFill>
                  <a:srgbClr val="6C757D"/>
                </a:solidFill>
                <a:latin typeface="Calibri"/>
              </a:rPr>
              <a:t>  |  DevOps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3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28600" y="201168"/>
            <a:ext cx="713232" cy="713232"/>
          </a:xfrm>
          <a:prstGeom prst="rect">
            <a:avLst/>
          </a:prstGeom>
          <a:solidFill>
            <a:srgbClr val="8B2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201168"/>
            <a:ext cx="7132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3152"/>
            <a:ext cx="9144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AWS SQS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7132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CCDD"/>
                </a:solidFill>
                <a:latin typeface="Calibri"/>
              </a:rPr>
              <a:t>Simple Queue Service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11887200" cy="51663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5394960" cy="5166360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371600"/>
            <a:ext cx="64008" cy="5166360"/>
          </a:xfrm>
          <a:prstGeom prst="rect">
            <a:avLst/>
          </a:prstGeom>
          <a:solidFill>
            <a:srgbClr val="8B2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32A45"/>
                </a:solidFill>
                <a:latin typeface="Calibri"/>
              </a:rPr>
              <a:t>Steps 7–8: Delete Message &amp; Verify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965960"/>
            <a:ext cx="347472" cy="347472"/>
          </a:xfrm>
          <a:prstGeom prst="rect">
            <a:avLst/>
          </a:prstGeom>
          <a:solidFill>
            <a:srgbClr val="8B2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" y="19659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19659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F"/>
                </a:solidFill>
                <a:latin typeface="Calibri"/>
              </a:rPr>
              <a:t>Select the message from the list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2468880"/>
            <a:ext cx="347472" cy="347472"/>
          </a:xfrm>
          <a:prstGeom prst="rect">
            <a:avLst/>
          </a:prstGeom>
          <a:solidFill>
            <a:srgbClr val="8B2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5488" y="246888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24688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F"/>
                </a:solidFill>
                <a:latin typeface="Calibri"/>
              </a:rPr>
              <a:t>Click 'Delete' — confirm deletion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" y="2971800"/>
            <a:ext cx="347472" cy="347472"/>
          </a:xfrm>
          <a:prstGeom prst="rect">
            <a:avLst/>
          </a:prstGeom>
          <a:solidFill>
            <a:srgbClr val="8B2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5488" y="297180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29718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F"/>
                </a:solidFill>
                <a:latin typeface="Calibri"/>
              </a:rPr>
              <a:t>Message count returns to 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" y="3474720"/>
            <a:ext cx="347472" cy="347472"/>
          </a:xfrm>
          <a:prstGeom prst="rect">
            <a:avLst/>
          </a:prstGeom>
          <a:solidFill>
            <a:srgbClr val="8B2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5488" y="347472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34747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F"/>
                </a:solidFill>
                <a:latin typeface="Calibri"/>
              </a:rPr>
              <a:t>Queue successfully demonstrates full send/receive/delete cycle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5488" y="3977639"/>
            <a:ext cx="347472" cy="347472"/>
          </a:xfrm>
          <a:prstGeom prst="rect">
            <a:avLst/>
          </a:prstGeom>
          <a:solidFill>
            <a:srgbClr val="8B2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5488" y="3977639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3977639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2F"/>
                </a:solidFill>
                <a:latin typeface="Calibri"/>
              </a:rPr>
              <a:t>SQS is ready to be integrated with Lambda or other services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97880" y="1371600"/>
            <a:ext cx="626364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897880" y="1371600"/>
            <a:ext cx="64008" cy="51663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sqs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508760"/>
            <a:ext cx="6035040" cy="448056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035040" y="603504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C757D"/>
                </a:solidFill>
                <a:latin typeface="Calibri"/>
              </a:rPr>
              <a:t>Message Deletion &amp; Confirmation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3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5760" y="6556248"/>
            <a:ext cx="1143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6C757D"/>
                </a:solidFill>
                <a:latin typeface="Calibri"/>
              </a:rPr>
              <a:t>K. </a:t>
            </a:r>
            <a:r>
              <a:rPr sz="1100" b="0" i="0" dirty="0" err="1">
                <a:solidFill>
                  <a:srgbClr val="6C757D"/>
                </a:solidFill>
                <a:latin typeface="Calibri"/>
              </a:rPr>
              <a:t>Arunsai</a:t>
            </a:r>
            <a:r>
              <a:rPr sz="1100" b="0" i="0" dirty="0">
                <a:solidFill>
                  <a:srgbClr val="6C757D"/>
                </a:solidFill>
                <a:latin typeface="Calibri"/>
              </a:rPr>
              <a:t>  </a:t>
            </a:r>
            <a:r>
              <a:rPr sz="1100" b="0" i="0">
                <a:solidFill>
                  <a:srgbClr val="6C757D"/>
                </a:solidFill>
                <a:latin typeface="Calibri"/>
              </a:rPr>
              <a:t>|  DevOps</a:t>
            </a:r>
            <a:endParaRPr sz="1100" b="0" i="0" dirty="0">
              <a:solidFill>
                <a:srgbClr val="6C757D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325</Words>
  <Application>Microsoft Office PowerPoint</Application>
  <PresentationFormat>Custom</PresentationFormat>
  <Paragraphs>71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Arunsai</dc:creator>
  <cp:keywords/>
  <dc:description>generated using python-pptx</dc:description>
  <cp:lastModifiedBy>Arun sai</cp:lastModifiedBy>
  <cp:revision>2</cp:revision>
  <dcterms:created xsi:type="dcterms:W3CDTF">2013-01-27T09:14:16Z</dcterms:created>
  <dcterms:modified xsi:type="dcterms:W3CDTF">2026-05-11T18:12:22Z</dcterms:modified>
  <cp:category/>
</cp:coreProperties>
</file>